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2"/>
    <p:sldMasterId id="2147483707" r:id="rId23"/>
  </p:sldMasterIdLst>
  <p:notesMasterIdLst>
    <p:notesMasterId r:id="rId46"/>
  </p:notesMasterIdLst>
  <p:sldIdLst>
    <p:sldId id="2147477829" r:id="rId24"/>
    <p:sldId id="2147480012" r:id="rId25"/>
    <p:sldId id="2147480011" r:id="rId26"/>
    <p:sldId id="2147479834" r:id="rId27"/>
    <p:sldId id="2147479835" r:id="rId28"/>
    <p:sldId id="2147479836" r:id="rId29"/>
    <p:sldId id="2147479852" r:id="rId30"/>
    <p:sldId id="2147479729" r:id="rId31"/>
    <p:sldId id="2147479859" r:id="rId32"/>
    <p:sldId id="2147479709" r:id="rId33"/>
    <p:sldId id="2147480001" r:id="rId34"/>
    <p:sldId id="2147479858" r:id="rId35"/>
    <p:sldId id="2147480009" r:id="rId36"/>
    <p:sldId id="2147479707" r:id="rId37"/>
    <p:sldId id="2147479705" r:id="rId38"/>
    <p:sldId id="2147479703" r:id="rId39"/>
    <p:sldId id="2147479698" r:id="rId40"/>
    <p:sldId id="2147479712" r:id="rId41"/>
    <p:sldId id="2147479713" r:id="rId42"/>
    <p:sldId id="2147479854" r:id="rId43"/>
    <p:sldId id="2147479855" r:id="rId44"/>
    <p:sldId id="214748001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679"/>
    <p:restoredTop sz="94637"/>
  </p:normalViewPr>
  <p:slideViewPr>
    <p:cSldViewPr snapToGrid="0">
      <p:cViewPr varScale="1">
        <p:scale>
          <a:sx n="209" d="100"/>
          <a:sy n="209" d="100"/>
        </p:scale>
        <p:origin x="1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3.xml"/><Relationship Id="rId39" Type="http://schemas.openxmlformats.org/officeDocument/2006/relationships/slide" Target="slides/slide16.xml"/><Relationship Id="rId21" Type="http://schemas.openxmlformats.org/officeDocument/2006/relationships/customXml" Target="../customXml/item21.xml"/><Relationship Id="rId34" Type="http://schemas.openxmlformats.org/officeDocument/2006/relationships/slide" Target="slides/slide11.xml"/><Relationship Id="rId42" Type="http://schemas.openxmlformats.org/officeDocument/2006/relationships/slide" Target="slides/slide1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slide" Target="slides/slide6.xml"/><Relationship Id="rId11" Type="http://schemas.openxmlformats.org/officeDocument/2006/relationships/customXml" Target="../customXml/item11.xml"/><Relationship Id="rId24" Type="http://schemas.openxmlformats.org/officeDocument/2006/relationships/slide" Target="slides/slide1.xml"/><Relationship Id="rId32" Type="http://schemas.openxmlformats.org/officeDocument/2006/relationships/slide" Target="slides/slide9.xml"/><Relationship Id="rId37" Type="http://schemas.openxmlformats.org/officeDocument/2006/relationships/slide" Target="slides/slide14.xml"/><Relationship Id="rId40" Type="http://schemas.openxmlformats.org/officeDocument/2006/relationships/slide" Target="slides/slide17.xml"/><Relationship Id="rId45" Type="http://schemas.openxmlformats.org/officeDocument/2006/relationships/slide" Target="slides/slide22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Master" Target="slideMasters/slideMaster2.xml"/><Relationship Id="rId28" Type="http://schemas.openxmlformats.org/officeDocument/2006/relationships/slide" Target="slides/slide5.xml"/><Relationship Id="rId36" Type="http://schemas.openxmlformats.org/officeDocument/2006/relationships/slide" Target="slides/slide13.xml"/><Relationship Id="rId49" Type="http://schemas.openxmlformats.org/officeDocument/2006/relationships/theme" Target="theme/theme1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8.xml"/><Relationship Id="rId44" Type="http://schemas.openxmlformats.org/officeDocument/2006/relationships/slide" Target="slides/slide2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Master" Target="slideMasters/slideMaster1.xml"/><Relationship Id="rId27" Type="http://schemas.openxmlformats.org/officeDocument/2006/relationships/slide" Target="slides/slide4.xml"/><Relationship Id="rId30" Type="http://schemas.openxmlformats.org/officeDocument/2006/relationships/slide" Target="slides/slide7.xml"/><Relationship Id="rId35" Type="http://schemas.openxmlformats.org/officeDocument/2006/relationships/slide" Target="slides/slide12.xml"/><Relationship Id="rId43" Type="http://schemas.openxmlformats.org/officeDocument/2006/relationships/slide" Target="slides/slide20.xml"/><Relationship Id="rId48" Type="http://schemas.openxmlformats.org/officeDocument/2006/relationships/viewProps" Target="view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2.xml"/><Relationship Id="rId33" Type="http://schemas.openxmlformats.org/officeDocument/2006/relationships/slide" Target="slides/slide10.xml"/><Relationship Id="rId38" Type="http://schemas.openxmlformats.org/officeDocument/2006/relationships/slide" Target="slides/slide15.xml"/><Relationship Id="rId46" Type="http://schemas.openxmlformats.org/officeDocument/2006/relationships/notesMaster" Target="notesMasters/notesMaster1.xml"/><Relationship Id="rId20" Type="http://schemas.openxmlformats.org/officeDocument/2006/relationships/customXml" Target="../customXml/item20.xml"/><Relationship Id="rId41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6DF60-6159-4558-8D07-00E18A77A54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0E5E0-7946-4FB1-A297-6AB0FA3AA7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02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Angelo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49BC75-2359-4F98-918A-7033C92AD487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ricsson Hilda Light" panose="00000400000000000000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ricsson Hilda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243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48CCD-F068-B69C-AEEE-F49ADCCD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4BEFB-40E1-897E-8C48-839496519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EB865-F19D-FC74-9FF1-9B3E606F1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3EA5571-D165-F53F-1D34-96ED4F4C55F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46EDF-E4C2-0231-7FC0-CFBD1383AE3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9BE2C-0869-32BC-B262-55DD753C58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5A606-1B3B-B15B-C868-4ECE04AF6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9BC75-2359-4F98-918A-7033C92AD48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19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8CEB5-1B9C-16C4-B7D1-D4754D0C6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775B0-5401-B7DA-5A20-BF5F9F09C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12BB5-1E75-474B-D268-71043752B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7E2E5A7-A729-73EC-1A95-74BC070C594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5C9AB-DF57-2FFE-ACC0-1456D8668EF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14B2D-06BD-4E36-22DF-7EEC67909A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BE301-E847-4264-9EE5-E1FC430B8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9BC75-2359-4F98-918A-7033C92AD48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40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2108456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75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113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09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197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5856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4104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631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2969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494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3968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1478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537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9700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4161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77447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2042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9202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0093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7892329"/>
      </p:ext>
    </p:extLst>
  </p:cSld>
  <p:clrMapOvr>
    <a:masterClrMapping/>
  </p:clrMapOvr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39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44910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0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88196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013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01756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4092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81158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5215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85556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4642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806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8735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6522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3248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66706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518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92495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7448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DDE3DF2-4191-6EC8-7BFC-F1AAA9CFC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59975"/>
            <a:ext cx="2120176" cy="21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300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00C8FCC-57E5-3E43-E21A-B3EDA1DB3E6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944A971-8DF1-600E-1D36-CB1EC2440F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60680"/>
            <a:ext cx="2119473" cy="2120400"/>
          </a:xfrm>
          <a:prstGeom prst="rect">
            <a:avLst/>
          </a:prstGeom>
        </p:spPr>
      </p:pic>
      <p:sp>
        <p:nvSpPr>
          <p:cNvPr id="2" name="SubTitle_TM">
            <a:extLst>
              <a:ext uri="{FF2B5EF4-FFF2-40B4-BE49-F238E27FC236}">
                <a16:creationId xmlns:a16="http://schemas.microsoft.com/office/drawing/2014/main" id="{FCF1ABC6-0A4C-6C18-E8A5-415153FD00B6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</p:spTree>
    <p:extLst>
      <p:ext uri="{BB962C8B-B14F-4D97-AF65-F5344CB8AC3E}">
        <p14:creationId xmlns:p14="http://schemas.microsoft.com/office/powerpoint/2010/main" val="2160505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7003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EF47-A155-4815-8E3B-40C76284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BA25-551C-447C-A896-CC8080E6E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A6C5-3BB4-4AB0-91A2-43BA454C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6DE01-2FF0-4867-B3DB-3EC28137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FE546-C229-4940-81D2-FAE4B25A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62096F-0B2A-43BE-BAC2-156D1E5A22B7}" type="slidenum">
              <a:rPr lang="en-US" smtClean="0">
                <a:solidFill>
                  <a:srgbClr val="001155"/>
                </a:solidFill>
                <a:cs typeface="+mn-cs"/>
              </a:rPr>
              <a:pPr>
                <a:defRPr/>
              </a:pPr>
              <a:t>‹Nº›</a:t>
            </a:fld>
            <a:endParaRPr lang="en-US">
              <a:solidFill>
                <a:srgbClr val="001155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2555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23aef9-865f-46e0-9feb-85e9b06e34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64054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f26b25-7c56-47e9-8e69-7c9c8de37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22426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2032059171"/>
      </p:ext>
    </p:extLst>
  </p:cSld>
  <p:clrMapOvr>
    <a:masterClrMapping/>
  </p:clrMapOvr>
  <p:hf sldNum="0"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6437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D9DB7BA-3A2F-46BA-A617-2A049434CD6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38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9389209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548632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6654486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102869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8459470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46053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4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801843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2365518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1813" y="4309200"/>
            <a:ext cx="6048375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79B00C-7C1F-4F17-8D52-31D787A1234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06895" y="2854112"/>
            <a:ext cx="1163145" cy="11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387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47989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note Cover Page w.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2554F4-437E-411D-B2B2-6A58D585809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-3048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itle_TM">
            <a:extLst>
              <a:ext uri="{FF2B5EF4-FFF2-40B4-BE49-F238E27FC236}">
                <a16:creationId xmlns:a16="http://schemas.microsoft.com/office/drawing/2014/main" id="{696C7C8F-5086-466A-8108-2FE0A8663D5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49"/>
            <a:ext cx="8353426" cy="3456000"/>
          </a:xfr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lang="en-US" sz="8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Keynote cover page </a:t>
            </a:r>
            <a:br>
              <a:rPr lang="en-US"/>
            </a:br>
            <a:r>
              <a:rPr lang="en-US"/>
              <a:t>Ericsson Hilda Light 80pt, max 3-lines</a:t>
            </a:r>
          </a:p>
        </p:txBody>
      </p:sp>
      <p:sp>
        <p:nvSpPr>
          <p:cNvPr id="10" name="SubTitle_TM">
            <a:extLst>
              <a:ext uri="{FF2B5EF4-FFF2-40B4-BE49-F238E27FC236}">
                <a16:creationId xmlns:a16="http://schemas.microsoft.com/office/drawing/2014/main" id="{ED5DEA0B-CF0D-4EE6-B6A8-90BAF3DE8AF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4" y="4149725"/>
            <a:ext cx="5472113" cy="2087563"/>
          </a:xfrm>
          <a:prstGeom prst="rect">
            <a:avLst/>
          </a:prstGeom>
        </p:spPr>
        <p:txBody>
          <a:bodyPr r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Speaker,</a:t>
            </a:r>
            <a:br>
              <a:rPr lang="en-US"/>
            </a:br>
            <a:r>
              <a:rPr lang="en-US"/>
              <a:t>Ericsson Black, Ericsson Hilda 20pt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753C092-06FE-4B22-BAB1-EBEB69074D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866A1512-27D5-4CA8-94C5-10E56C30705D}"/>
              </a:ext>
            </a:extLst>
          </p:cNvPr>
          <p:cNvSpPr txBox="1"/>
          <p:nvPr userDrawn="1"/>
        </p:nvSpPr>
        <p:spPr>
          <a:xfrm>
            <a:off x="396000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FirstDividerHider">
            <a:extLst>
              <a:ext uri="{FF2B5EF4-FFF2-40B4-BE49-F238E27FC236}">
                <a16:creationId xmlns:a16="http://schemas.microsoft.com/office/drawing/2014/main" id="{30276571-778A-43C8-820D-4E055433343F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7047302"/>
      </p:ext>
    </p:extLst>
  </p:cSld>
  <p:clrMapOvr>
    <a:masterClrMapping/>
  </p:clrMapOvr>
  <p:hf sldNum="0" hdr="0" ftr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276473960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D1EC-7035-7162-3D49-453CAB62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CA374-22C6-10E4-B949-DB8D84B0C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A6CEB-EDCC-F2FE-4644-90599486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7A04-4D14-4FB4-ABC3-4FF79A2401A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73BD8-4B85-9069-3BD9-B47B39CD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07A9-583F-83A7-FC2A-8C48950B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E183-6F7B-4689-9F59-5F64BE4E64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0305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74EB-9121-12F5-0BB1-B62827FFC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35119-7FD8-4D80-EA3D-B3AC4F3ED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989CB-11D3-C644-1FEF-B88D9467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C93B-D740-4A24-9033-971140705A3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28F01-86E2-7CCD-961D-1736AD60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DABC-0E7B-9D4B-E47D-02AF5B93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44C3-3010-471A-8BD1-91611E7237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62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56.xml"/><Relationship Id="rId19" Type="http://schemas.openxmlformats.org/officeDocument/2006/relationships/image" Target="../media/image3.svg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ADDB58AC-4EFC-E7F9-0735-7729D36BFF82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4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 err="1"/>
              <a:t>Mintaszöveg</a:t>
            </a:r>
            <a:r>
              <a:rPr lang="en-US"/>
              <a:t> </a:t>
            </a:r>
            <a:r>
              <a:rPr lang="en-US" err="1"/>
              <a:t>szerkesztése</a:t>
            </a:r>
            <a:endParaRPr lang="en-US"/>
          </a:p>
          <a:p>
            <a:pPr lvl="1"/>
            <a:r>
              <a:rPr lang="en-US" err="1"/>
              <a:t>Második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2"/>
            <a:r>
              <a:rPr lang="en-US" err="1"/>
              <a:t>Harmadik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3"/>
            <a:r>
              <a:rPr lang="en-US" err="1"/>
              <a:t>Negyedik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4"/>
            <a:r>
              <a:rPr lang="en-US" err="1"/>
              <a:t>Ötödik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CFCA6C0-C300-46F3-8D05-D936BF801E7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9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19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customXml" Target="../../customXml/item16.xml"/><Relationship Id="rId1" Type="http://schemas.openxmlformats.org/officeDocument/2006/relationships/customXml" Target="../../customXml/item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customXml" Target="../../customXml/item12.xml"/><Relationship Id="rId1" Type="http://schemas.openxmlformats.org/officeDocument/2006/relationships/customXml" Target="../../customXml/item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1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8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882B6-9C77-E884-C357-DCEDE7E6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9A7B065-916C-E885-2753-F188CDE382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70" y="1"/>
            <a:ext cx="12184260" cy="6857998"/>
          </a:xfrm>
          <a:prstGeom prst="rect">
            <a:avLst/>
          </a:prstGeom>
        </p:spPr>
      </p:pic>
      <p:sp>
        <p:nvSpPr>
          <p:cNvPr id="4" name="Title 7">
            <a:extLst>
              <a:ext uri="{FF2B5EF4-FFF2-40B4-BE49-F238E27FC236}">
                <a16:creationId xmlns:a16="http://schemas.microsoft.com/office/drawing/2014/main" id="{E79E048F-6B1A-A8F0-86E1-0DE6FBE07011}"/>
              </a:ext>
            </a:extLst>
          </p:cNvPr>
          <p:cNvSpPr txBox="1">
            <a:spLocks/>
          </p:cNvSpPr>
          <p:nvPr/>
        </p:nvSpPr>
        <p:spPr>
          <a:xfrm>
            <a:off x="479425" y="476250"/>
            <a:ext cx="8353426" cy="345757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defRPr sz="4000" kern="1400" spc="-16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400" cap="none" spc="-16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Ericsson Hilda Light"/>
                <a:ea typeface="+mj-ea"/>
                <a:cs typeface="+mj-cs"/>
              </a:rPr>
              <a:t>2025 Q4 Net check UK</a:t>
            </a:r>
          </a:p>
          <a:p>
            <a:pPr lvl="0">
              <a:defRPr/>
            </a:pPr>
            <a:r>
              <a:rPr lang="en-US" sz="6600" dirty="0">
                <a:solidFill>
                  <a:srgbClr val="181818"/>
                </a:solidFill>
                <a:latin typeface="Ericsson Hilda Light"/>
              </a:rPr>
              <a:t>NSA CDR analysis </a:t>
            </a:r>
            <a:br>
              <a:rPr lang="en-US" sz="6600" dirty="0">
                <a:solidFill>
                  <a:srgbClr val="181818"/>
                </a:solidFill>
                <a:latin typeface="Ericsson Hilda Light"/>
              </a:rPr>
            </a:br>
            <a:br>
              <a:rPr lang="en-US" sz="6600" dirty="0">
                <a:solidFill>
                  <a:srgbClr val="181818"/>
                </a:solidFill>
                <a:latin typeface="Ericsson Hilda Light"/>
              </a:rPr>
            </a:br>
            <a:r>
              <a:rPr lang="en-US" sz="4400" dirty="0">
                <a:solidFill>
                  <a:schemeClr val="bg2"/>
                </a:solidFill>
              </a:rPr>
              <a:t>Belfast, Bristol, Cardiff, Edinburgh, London, Leeds and Sheffield</a:t>
            </a:r>
            <a:endParaRPr kumimoji="0" lang="en-US" sz="6600" b="0" i="0" u="none" strike="noStrike" kern="1400" cap="none" spc="-16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Ericsson Hilda Light"/>
              <a:ea typeface="+mj-ea"/>
              <a:cs typeface="+mj-cs"/>
            </a:endParaRP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CB54D4F-E30C-E00B-CFB2-9426ED9D93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745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CEFA-4BAE-3C86-F857-D6FF88FE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08CAD87-C7E0-56E7-74C8-385CD67E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21950" cy="1081088"/>
          </a:xfrm>
        </p:spPr>
        <p:txBody>
          <a:bodyPr wrap="square" anchor="t">
            <a:normAutofit/>
          </a:bodyPr>
          <a:lstStyle/>
          <a:p>
            <a:r>
              <a:rPr lang="en-US"/>
              <a:t>Executive 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575C15-6C50-4090-83E2-90AE9C0E5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190280"/>
              </p:ext>
            </p:extLst>
          </p:nvPr>
        </p:nvGraphicFramePr>
        <p:xfrm>
          <a:off x="222388" y="1294534"/>
          <a:ext cx="11622157" cy="4864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983">
                  <a:extLst>
                    <a:ext uri="{9D8B030D-6E8A-4147-A177-3AD203B41FA5}">
                      <a16:colId xmlns:a16="http://schemas.microsoft.com/office/drawing/2014/main" val="1231941871"/>
                    </a:ext>
                  </a:extLst>
                </a:gridCol>
                <a:gridCol w="5672759">
                  <a:extLst>
                    <a:ext uri="{9D8B030D-6E8A-4147-A177-3AD203B41FA5}">
                      <a16:colId xmlns:a16="http://schemas.microsoft.com/office/drawing/2014/main" val="819676662"/>
                    </a:ext>
                  </a:extLst>
                </a:gridCol>
                <a:gridCol w="2185780">
                  <a:extLst>
                    <a:ext uri="{9D8B030D-6E8A-4147-A177-3AD203B41FA5}">
                      <a16:colId xmlns:a16="http://schemas.microsoft.com/office/drawing/2014/main" val="3964278779"/>
                    </a:ext>
                  </a:extLst>
                </a:gridCol>
                <a:gridCol w="3107635">
                  <a:extLst>
                    <a:ext uri="{9D8B030D-6E8A-4147-A177-3AD203B41FA5}">
                      <a16:colId xmlns:a16="http://schemas.microsoft.com/office/drawing/2014/main" val="1255488726"/>
                    </a:ext>
                  </a:extLst>
                </a:gridCol>
              </a:tblGrid>
              <a:tr h="2269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Operator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Main Finding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Recommendation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Potential Scoring Impact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extLst>
                  <a:ext uri="{0D108BD9-81ED-4DB2-BD59-A6C34878D82A}">
                    <a16:rowId xmlns:a16="http://schemas.microsoft.com/office/drawing/2014/main" val="2863621968"/>
                  </a:ext>
                </a:extLst>
              </a:tr>
              <a:tr h="226921"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VFE</a:t>
                      </a:r>
                      <a:endParaRPr lang="en-US" sz="1200" b="1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Higher data failure ratio in all data test, but specially in FDFS DL&amp;UL in Q4 compared to Q3. </a:t>
                      </a:r>
                      <a:endParaRPr lang="en-US" sz="1200" b="0" i="0" u="none" strike="noStrike" dirty="0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E2E analysis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Data services Success Ratio ('Most reliable’) (FDFS DL&amp;UL, Browsing and Video)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4118443984"/>
                  </a:ext>
                </a:extLst>
              </a:tr>
              <a:tr h="2269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Improvement in CST in Q4 compared to Q3 and Q2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CALL SETUP TIME (‘Best Network’)</a:t>
                      </a: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2196451456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Improvement in FDTT DL throughput performance in Q4 vs Q3 (* due to change in the CORE), matching similar trends as in Q2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FDTT DL Throughput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1662449492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Degradation in FDFS DL throughput performance in Q4 vs Q3 (* due to change in the CORE), matching similar trends as in Q2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FDFS DL Transfer Time</a:t>
                      </a: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1926149615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Higher Interactivity RTT in Q4 compared to Q3, similar figures as in Q2 (*). London showing poorer performance in Q4 compared to Q2.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E2E analysis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Interactivity RTT </a:t>
                      </a: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(‘Best Network’)</a:t>
                      </a: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1658485777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Throughput performance when connecting to 3UK MOCN nodes mimics the 3UK performance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FDTT and FDFS DL&amp;UL Throughput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1527490177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Better Throughput performance when connecting to VFUK MOCN nodes. This relates with the higher NR TDD utilization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FDTT and FDFS DL&amp;UL Throughput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2271828910"/>
                  </a:ext>
                </a:extLst>
              </a:tr>
              <a:tr h="404557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Three</a:t>
                      </a:r>
                      <a:endParaRPr lang="en-US" sz="1000" u="none" strike="noStrike">
                        <a:effectLst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 High unqualified data sessions in FDFS DL HTTPS test (not RF related) still present in Q4 in NSA CDR. In SA CDR this problem is not present.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 E2E analysis. E2E core tracing needed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 FDFS DL Success Ratio ('Most reliable')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extLst>
                  <a:ext uri="{0D108BD9-81ED-4DB2-BD59-A6C34878D82A}">
                    <a16:rowId xmlns:a16="http://schemas.microsoft.com/office/drawing/2014/main" val="524180120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Lower Call Success ratio in Q4 in London compared to Q3 (higher number of VoLTE failures)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Detail Log analysis of failures cases 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Call Success Ratio ('Most reliable')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3167912453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/>
                        <a:t>Degradation observed in POLQA AVG MOS in Q4 compared to Q3 mainly in Belfast and Sheffield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POLQA Avg MOS</a:t>
                      </a: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252388039"/>
                  </a:ext>
                </a:extLst>
              </a:tr>
              <a:tr h="22692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Throughput performance when connecting to VFUK MOCN nodes mimics the VFUK performance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FDTT and FDFS DL&amp;UL Throughput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2097528208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u="none" strike="noStrike">
                        <a:effectLst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Better Throughput performance when connecting to 3UK MOCN nodes. This relates with the higher NR TDD utilization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FDTT and FDFS DL&amp;UL Throughput</a:t>
                      </a:r>
                      <a:endParaRPr lang="en-US" sz="1200" b="0" i="0" u="none" strike="noStrike" dirty="0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20009375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B9695F-3483-5CC7-F351-C8C341E582C2}"/>
              </a:ext>
            </a:extLst>
          </p:cNvPr>
          <p:cNvSpPr txBox="1"/>
          <p:nvPr/>
        </p:nvSpPr>
        <p:spPr>
          <a:xfrm>
            <a:off x="304178" y="6268819"/>
            <a:ext cx="114585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i="1" dirty="0"/>
              <a:t>(*) In 2025 Q4 Vodafone core is CISCO CORE (as in 2025 Q2) and in 2025 Q3 it was COSMOS ERICSSON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293040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4D93-5840-342A-4402-165E6E92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4BBD865-6FF6-F3EC-BF4E-F85CF5FE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Netcheck</a:t>
            </a:r>
            <a:r>
              <a:rPr lang="en-US"/>
              <a:t> Q4 scoring “Best network”. Drive city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47A7D83-2E0B-9109-0F75-24A40DA158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453377" y="1580516"/>
            <a:ext cx="4327934" cy="3807142"/>
          </a:xfrm>
        </p:spPr>
        <p:txBody>
          <a:bodyPr/>
          <a:lstStyle/>
          <a:p>
            <a:r>
              <a:rPr lang="en-US"/>
              <a:t>Cities considered: </a:t>
            </a:r>
            <a:r>
              <a:rPr lang="en-US" b="1"/>
              <a:t>Belfast, Bristol, Cardiff, Edinburgh, London, Leeds and Sheffield.</a:t>
            </a:r>
          </a:p>
          <a:p>
            <a:r>
              <a:rPr lang="en-US"/>
              <a:t>The ranking points are scaled to a maximum of 1.000 points, providing comparability with the overall Ranking</a:t>
            </a:r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pPr marL="265113" lvl="1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05F540-3ACB-69F5-2ABD-D94570165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210" y="3585121"/>
            <a:ext cx="3723755" cy="26430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E60BD4-89B0-E524-8F6C-ADBA6669F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689" y="1557338"/>
            <a:ext cx="6874168" cy="4092651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0505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062BD-8BF1-A699-C5E0-E5FF2BBD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53E9968-E7DA-8AE4-3F19-1A374795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Score breakdown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A3E9F2-2871-6837-FCE8-D80E941FA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40059"/>
              </p:ext>
            </p:extLst>
          </p:nvPr>
        </p:nvGraphicFramePr>
        <p:xfrm>
          <a:off x="568960" y="1198917"/>
          <a:ext cx="10232615" cy="4943251"/>
        </p:xfrm>
        <a:graphic>
          <a:graphicData uri="http://schemas.openxmlformats.org/drawingml/2006/table">
            <a:tbl>
              <a:tblPr firstCol="1"/>
              <a:tblGrid>
                <a:gridCol w="1212922">
                  <a:extLst>
                    <a:ext uri="{9D8B030D-6E8A-4147-A177-3AD203B41FA5}">
                      <a16:colId xmlns:a16="http://schemas.microsoft.com/office/drawing/2014/main" val="3113121742"/>
                    </a:ext>
                  </a:extLst>
                </a:gridCol>
                <a:gridCol w="2559646">
                  <a:extLst>
                    <a:ext uri="{9D8B030D-6E8A-4147-A177-3AD203B41FA5}">
                      <a16:colId xmlns:a16="http://schemas.microsoft.com/office/drawing/2014/main" val="1625475787"/>
                    </a:ext>
                  </a:extLst>
                </a:gridCol>
                <a:gridCol w="668347">
                  <a:extLst>
                    <a:ext uri="{9D8B030D-6E8A-4147-A177-3AD203B41FA5}">
                      <a16:colId xmlns:a16="http://schemas.microsoft.com/office/drawing/2014/main" val="1535087981"/>
                    </a:ext>
                  </a:extLst>
                </a:gridCol>
                <a:gridCol w="804570">
                  <a:extLst>
                    <a:ext uri="{9D8B030D-6E8A-4147-A177-3AD203B41FA5}">
                      <a16:colId xmlns:a16="http://schemas.microsoft.com/office/drawing/2014/main" val="2551595483"/>
                    </a:ext>
                  </a:extLst>
                </a:gridCol>
                <a:gridCol w="845739">
                  <a:extLst>
                    <a:ext uri="{9D8B030D-6E8A-4147-A177-3AD203B41FA5}">
                      <a16:colId xmlns:a16="http://schemas.microsoft.com/office/drawing/2014/main" val="1594207783"/>
                    </a:ext>
                  </a:extLst>
                </a:gridCol>
                <a:gridCol w="703199">
                  <a:extLst>
                    <a:ext uri="{9D8B030D-6E8A-4147-A177-3AD203B41FA5}">
                      <a16:colId xmlns:a16="http://schemas.microsoft.com/office/drawing/2014/main" val="2271915179"/>
                    </a:ext>
                  </a:extLst>
                </a:gridCol>
                <a:gridCol w="703199">
                  <a:extLst>
                    <a:ext uri="{9D8B030D-6E8A-4147-A177-3AD203B41FA5}">
                      <a16:colId xmlns:a16="http://schemas.microsoft.com/office/drawing/2014/main" val="1853812213"/>
                    </a:ext>
                  </a:extLst>
                </a:gridCol>
                <a:gridCol w="703199">
                  <a:extLst>
                    <a:ext uri="{9D8B030D-6E8A-4147-A177-3AD203B41FA5}">
                      <a16:colId xmlns:a16="http://schemas.microsoft.com/office/drawing/2014/main" val="1818747723"/>
                    </a:ext>
                  </a:extLst>
                </a:gridCol>
                <a:gridCol w="1063187">
                  <a:extLst>
                    <a:ext uri="{9D8B030D-6E8A-4147-A177-3AD203B41FA5}">
                      <a16:colId xmlns:a16="http://schemas.microsoft.com/office/drawing/2014/main" val="1763277425"/>
                    </a:ext>
                  </a:extLst>
                </a:gridCol>
                <a:gridCol w="968607">
                  <a:extLst>
                    <a:ext uri="{9D8B030D-6E8A-4147-A177-3AD203B41FA5}">
                      <a16:colId xmlns:a16="http://schemas.microsoft.com/office/drawing/2014/main" val="3798419767"/>
                    </a:ext>
                  </a:extLst>
                </a:gridCol>
              </a:tblGrid>
              <a:tr h="1372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NETCHECK KPIS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Score weight (%)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 score over 1000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Vodafone</a:t>
                      </a:r>
                    </a:p>
                  </a:txBody>
                  <a:tcPr marL="5491" marR="5491" marT="54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O2</a:t>
                      </a:r>
                    </a:p>
                  </a:txBody>
                  <a:tcPr marL="5491" marR="5491" marT="54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Three</a:t>
                      </a:r>
                    </a:p>
                  </a:txBody>
                  <a:tcPr marL="5491" marR="5491" marT="54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EE</a:t>
                      </a:r>
                    </a:p>
                  </a:txBody>
                  <a:tcPr marL="5491" marR="5491" marT="54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0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a-DK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GAP Vodafone vs  EE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GAP Three vs EE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597588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CLASSIC CALLS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CALL SUCCESS RATIO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14.28%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142.80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137.41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133.33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124.56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989074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CALL SETUP TIME [s]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1.68%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16.80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16.80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16.32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50072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CALL SETUP TIME &gt; 15 s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0.84%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8.40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7.87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516350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POLQA &lt; 1.6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4.20%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42.00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32.31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34.17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106333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POLQA [MOS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1.40%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14.00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13.81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13.80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13.71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873468"/>
                  </a:ext>
                </a:extLst>
              </a:tr>
              <a:tr h="137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DISTURBED &amp; IMPAIRED CALL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2.80%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28.00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22.02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736457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WHATSAPP CALLS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CALL SUCCESS RATIO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5.60%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56.00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991858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POLQA &lt; 1.6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1.40%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14.00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11.06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10.61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54522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POLQA [MOS]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0.47%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4.70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680668"/>
                  </a:ext>
                </a:extLst>
              </a:tr>
              <a:tr h="137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DISTURBED &amp; IMPAIRED CALL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0.93%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9.30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6.87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7.01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438808"/>
                  </a:ext>
                </a:extLst>
              </a:tr>
              <a:tr h="137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Multi RAB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MULTI RAB DATA TRANSFER SUCCESS RATIO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1.40%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14.00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13.27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414515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TRANSFER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FDFS DL SUCCESS RATIO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4.68%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46.80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36.37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43.65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8.79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501882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FDFS DL TRANSFER TIME [s]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3.12%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31.20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28.77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29.19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27.70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31.20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659621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FDFS UL SUCCESS RATIO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2.34%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23.40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19.23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319822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FDFS UL TRANSFER TIME [s]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1.56%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15.60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9.96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427847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DL THROUGHPUT &gt; 2Mbit/s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3.12%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31.20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28.17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29.45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12.57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748435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DL THROUGHPUT &gt; 5Mbit/s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3.90%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39.00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36.35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36.37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24.77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12.39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2887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DL THROUGHPUT &gt; 20Mbit/s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3.90%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39.00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31.52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32.22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28.54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35.38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6.84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20006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DL THROUGHPUT &gt; 100Mbit/s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2.34%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23.40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20.32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781704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DL THROUGHPUT P90 [Mbit/s]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2.34%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23.40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23.18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81121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UL THROUGHPUT &gt; 1Mbit/s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1.56%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15.60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14.94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15.36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343977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UL THROUGHPUT &gt; 3Mbit/s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1.95%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19.50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60424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UL THROUGHPUT &gt; 10Mbit/s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1.95%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19.50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16.78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520103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UL THROUGHPUT &gt; 20Mbit/s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1.17%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11.70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10.29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10.12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5823"/>
                  </a:ext>
                </a:extLst>
              </a:tr>
              <a:tr h="137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UL THROUGHPUT P90 [Mbit/s]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1.17%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11.70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10.30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11.70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10.22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-1.48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848647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HTTP/HTTPs BROWSING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BROWSING TIME TO 1MB [</a:t>
                      </a:r>
                      <a:r>
                        <a:rPr lang="en-US" sz="900" b="1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ms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5.20%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52.00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03398"/>
                  </a:ext>
                </a:extLst>
              </a:tr>
              <a:tr h="137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BROWSING SUCCESS RATIO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7.80%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78.00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68.55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75.12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68.87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6.98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026827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VIDEO STREAM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VIDEO STREAMING SUCCESS RATIO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8.32%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83.20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77.20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439850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VIDEO STREAMING TTFP &gt;= 10 s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0.52%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5.20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48413"/>
                  </a:ext>
                </a:extLst>
              </a:tr>
              <a:tr h="137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VIDEO STREAMING IRRITATING EXPERIENCE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4.16%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41.60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41.34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40.96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40.30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41.48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278409"/>
                  </a:ext>
                </a:extLst>
              </a:tr>
              <a:tr h="131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INTERACTIVITY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INTERACTIVITY PACKET ERROR RATIO [%]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0.78%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7.80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6.70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527329"/>
                  </a:ext>
                </a:extLst>
              </a:tr>
              <a:tr h="137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INTERACTIVITY MEDIAN RTT [MS]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3.12%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31.20</a:t>
                      </a:r>
                    </a:p>
                  </a:txBody>
                  <a:tcPr marL="5491" marR="5491" marT="54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29.56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485007"/>
                  </a:ext>
                </a:extLst>
              </a:tr>
            </a:tbl>
          </a:graphicData>
        </a:graphic>
      </p:graphicFrame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60229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6F3A1-4245-A842-327B-8DB1A9ADA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4380641-CF34-AB65-D630-1B6F3361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KPIs prioritization: gap Vodafone vs EE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35D3A4-BA53-6227-34A6-C4AD5B9FF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269763"/>
              </p:ext>
            </p:extLst>
          </p:nvPr>
        </p:nvGraphicFramePr>
        <p:xfrm>
          <a:off x="548394" y="1948786"/>
          <a:ext cx="6954260" cy="340371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666724">
                  <a:extLst>
                    <a:ext uri="{9D8B030D-6E8A-4147-A177-3AD203B41FA5}">
                      <a16:colId xmlns:a16="http://schemas.microsoft.com/office/drawing/2014/main" val="3642605734"/>
                    </a:ext>
                  </a:extLst>
                </a:gridCol>
                <a:gridCol w="3040319">
                  <a:extLst>
                    <a:ext uri="{9D8B030D-6E8A-4147-A177-3AD203B41FA5}">
                      <a16:colId xmlns:a16="http://schemas.microsoft.com/office/drawing/2014/main" val="254157762"/>
                    </a:ext>
                  </a:extLst>
                </a:gridCol>
                <a:gridCol w="1353904">
                  <a:extLst>
                    <a:ext uri="{9D8B030D-6E8A-4147-A177-3AD203B41FA5}">
                      <a16:colId xmlns:a16="http://schemas.microsoft.com/office/drawing/2014/main" val="2990189239"/>
                    </a:ext>
                  </a:extLst>
                </a:gridCol>
                <a:gridCol w="893313">
                  <a:extLst>
                    <a:ext uri="{9D8B030D-6E8A-4147-A177-3AD203B41FA5}">
                      <a16:colId xmlns:a16="http://schemas.microsoft.com/office/drawing/2014/main" val="1773962362"/>
                    </a:ext>
                  </a:extLst>
                </a:gridCol>
              </a:tblGrid>
              <a:tr h="747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8" marR="5198" marT="5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Netcheck</a:t>
                      </a: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KPIs</a:t>
                      </a:r>
                    </a:p>
                  </a:txBody>
                  <a:tcPr marL="5198" marR="5198" marT="5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GAP Vodafone vs EE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8" marR="5198" marT="5198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Type of KPI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8" marR="5198" marT="5198" marB="0" anchor="b"/>
                </a:tc>
                <a:extLst>
                  <a:ext uri="{0D108BD9-81ED-4DB2-BD59-A6C34878D82A}">
                    <a16:rowId xmlns:a16="http://schemas.microsoft.com/office/drawing/2014/main" val="119120654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FDFS DL SUCCESS RATIO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8.79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4100137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HTTP/HTTPs BROWSING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BROWSING SUCCESS RATIO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6.98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4373942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FDFS UL SUCCESS RATIO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4.47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3873704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VIDEO STREAM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VIDEO STREAMING SUCCESS RATIO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3.94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0423678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FDTT DL THROUGHPUT &gt; 20Mbit/s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3.87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59169613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WHATSAPP CALLS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 SUCCESS RATIO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2.92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0483915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INTERACTIVITY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INTERACTIVITY MEDIAN RTT [MS]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2.64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07468503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FDFS DL TRANSFER TIME [s]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2.43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67018905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FDTT DL THROUGHPUT P90 [Mbit/s]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1.86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29836276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FDTT UL THROUGHPUT &gt; 10Mbit/s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71184441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FDTT DL THROUGHPUT &gt; 100Mbit/s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1.08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58039104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WHATSAPP CALLS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POLQA &lt; 1.6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1.06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37247337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FDFS UL TRANSFER TIME [s]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1.06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7910050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CLASSIC CALLS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 SETUP TIME [s]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1.04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93233163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FDTT DL THROUGHPUT &gt; 2Mbit/s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1.04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3940047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CLASSIC CALLS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POLQA &lt; 1.6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1.04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5703035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FDTT UL THROUGHPUT &gt; 3Mbit/s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1.03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36332286"/>
                  </a:ext>
                </a:extLst>
              </a:tr>
              <a:tr h="1299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FDTT DL THROUGHPUT &gt; 5Mbit/s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04656314"/>
                  </a:ext>
                </a:extLst>
              </a:tr>
            </a:tbl>
          </a:graphicData>
        </a:graphic>
      </p:graphicFrame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B4F34C75-980E-919A-0A59-4B0BB617A70B}"/>
              </a:ext>
            </a:extLst>
          </p:cNvPr>
          <p:cNvSpPr txBox="1">
            <a:spLocks/>
          </p:cNvSpPr>
          <p:nvPr/>
        </p:nvSpPr>
        <p:spPr>
          <a:xfrm>
            <a:off x="7715249" y="1933574"/>
            <a:ext cx="4131719" cy="3112019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>
                <a:sym typeface="Wingdings" panose="05000000000000000000" pitchFamily="2" charset="2"/>
              </a:rPr>
              <a:t>Vodafone having highest gap with EE in data success ratio in Q4, all part of reliability definition (</a:t>
            </a:r>
            <a:r>
              <a:rPr lang="en-US" b="1">
                <a:sym typeface="Wingdings" panose="05000000000000000000" pitchFamily="2" charset="2"/>
              </a:rPr>
              <a:t>almost 25 points </a:t>
            </a:r>
            <a:r>
              <a:rPr lang="en-US">
                <a:sym typeface="Wingdings" panose="05000000000000000000" pitchFamily="2" charset="2"/>
              </a:rPr>
              <a:t>gap with EE).</a:t>
            </a: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pPr marL="265113" lvl="1" indent="0">
              <a:buFont typeface="Ericsson Hilda" panose="00000500000000000000" pitchFamily="2" charset="0"/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02D0C-CCAA-01FC-46C7-F87948F64A2B}"/>
              </a:ext>
            </a:extLst>
          </p:cNvPr>
          <p:cNvSpPr txBox="1"/>
          <p:nvPr/>
        </p:nvSpPr>
        <p:spPr>
          <a:xfrm>
            <a:off x="9549477" y="5150073"/>
            <a:ext cx="2297491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/>
              <a:t>Low-rate DL sessions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4F63ED-8A4E-0E2B-101D-1D00DE27AE8F}"/>
              </a:ext>
            </a:extLst>
          </p:cNvPr>
          <p:cNvSpPr txBox="1"/>
          <p:nvPr/>
        </p:nvSpPr>
        <p:spPr>
          <a:xfrm>
            <a:off x="9508780" y="4298231"/>
            <a:ext cx="2347421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/>
              <a:t>Voice qualifiers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9E5F10-369D-733F-4A06-0D7E4251DF88}"/>
              </a:ext>
            </a:extLst>
          </p:cNvPr>
          <p:cNvSpPr txBox="1"/>
          <p:nvPr/>
        </p:nvSpPr>
        <p:spPr>
          <a:xfrm>
            <a:off x="8556447" y="3434392"/>
            <a:ext cx="2612326" cy="3385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>
                <a:latin typeface="+mn-lt"/>
              </a:rPr>
              <a:t>Focus Areas Vodafone: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057FEE-2742-8F5F-80CB-B26BBBA0ED39}"/>
              </a:ext>
            </a:extLst>
          </p:cNvPr>
          <p:cNvSpPr txBox="1"/>
          <p:nvPr/>
        </p:nvSpPr>
        <p:spPr>
          <a:xfrm>
            <a:off x="8064334" y="3896228"/>
            <a:ext cx="2297491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latin typeface="+mn-lt"/>
              </a:rPr>
              <a:t>Data Qualifiers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F6447-DF23-BB5B-B2B9-559BA3381D7D}"/>
              </a:ext>
            </a:extLst>
          </p:cNvPr>
          <p:cNvSpPr txBox="1"/>
          <p:nvPr/>
        </p:nvSpPr>
        <p:spPr>
          <a:xfrm>
            <a:off x="8082325" y="4710113"/>
            <a:ext cx="2189290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latin typeface="+mn-lt"/>
              </a:rPr>
              <a:t>POLQA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E6F6DB-63A6-A965-1431-D2C1936A3BFC}"/>
              </a:ext>
            </a:extLst>
          </p:cNvPr>
          <p:cNvSpPr txBox="1"/>
          <p:nvPr/>
        </p:nvSpPr>
        <p:spPr>
          <a:xfrm>
            <a:off x="8125466" y="5567703"/>
            <a:ext cx="1787948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n-lt"/>
              </a:rPr>
              <a:t>Interactivity RTT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4CCC0F-F7EF-1380-0993-6B9C31F7F401}"/>
              </a:ext>
            </a:extLst>
          </p:cNvPr>
          <p:cNvCxnSpPr>
            <a:cxnSpLocks/>
          </p:cNvCxnSpPr>
          <p:nvPr/>
        </p:nvCxnSpPr>
        <p:spPr bwMode="auto">
          <a:xfrm>
            <a:off x="404961" y="1481841"/>
            <a:ext cx="0" cy="3685222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559E423-FE1B-A1D7-8A07-23751323F967}"/>
              </a:ext>
            </a:extLst>
          </p:cNvPr>
          <p:cNvSpPr txBox="1"/>
          <p:nvPr/>
        </p:nvSpPr>
        <p:spPr>
          <a:xfrm>
            <a:off x="178691" y="1481841"/>
            <a:ext cx="1011934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>
                <a:latin typeface="+mn-lt"/>
              </a:rPr>
              <a:t>Priority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C580A2-99A4-FF72-E295-4CFA2E86B9AB}"/>
              </a:ext>
            </a:extLst>
          </p:cNvPr>
          <p:cNvSpPr txBox="1"/>
          <p:nvPr/>
        </p:nvSpPr>
        <p:spPr>
          <a:xfrm>
            <a:off x="9657678" y="5980043"/>
            <a:ext cx="2189290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n-lt"/>
              </a:rPr>
              <a:t>Low-rate UL sessions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6193EC98-3904-F84F-DC83-A686696E2691}"/>
              </a:ext>
            </a:extLst>
          </p:cNvPr>
          <p:cNvSpPr txBox="1">
            <a:spLocks/>
          </p:cNvSpPr>
          <p:nvPr/>
        </p:nvSpPr>
        <p:spPr>
          <a:xfrm>
            <a:off x="479425" y="5609268"/>
            <a:ext cx="7235824" cy="741550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dirty="0"/>
              <a:t>Cities considered: </a:t>
            </a:r>
            <a:r>
              <a:rPr lang="en-US" sz="1600" b="1" dirty="0"/>
              <a:t>Belfast, Bristol, Cardiff, Edinburgh, London, Leeds and Sheffield</a:t>
            </a:r>
            <a:r>
              <a:rPr lang="en-US" sz="1600" dirty="0"/>
              <a:t>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507889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F0209-03FA-F0F6-54CD-56682AB27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2FE319C-E7C0-24DD-12A9-E2BBD520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KPIs prioritization: gap Three vs EE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88A020-7FA1-AF45-C69C-15CF3D2BB5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5851991"/>
            <a:ext cx="7112000" cy="741550"/>
          </a:xfrm>
        </p:spPr>
        <p:txBody>
          <a:bodyPr/>
          <a:lstStyle/>
          <a:p>
            <a:r>
              <a:rPr lang="en-US" sz="1600"/>
              <a:t>Cities considered: </a:t>
            </a:r>
            <a:r>
              <a:rPr lang="en-US" sz="1600" b="1"/>
              <a:t>Belfast, Bristol, Cardiff, Edinburgh, London, Leeds and Sheffield</a:t>
            </a:r>
            <a:r>
              <a:rPr lang="en-US" sz="1600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24AF3E-FE4B-0E61-0A17-A28400404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068019"/>
              </p:ext>
            </p:extLst>
          </p:nvPr>
        </p:nvGraphicFramePr>
        <p:xfrm>
          <a:off x="603849" y="1669928"/>
          <a:ext cx="6774816" cy="335050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66192">
                  <a:extLst>
                    <a:ext uri="{9D8B030D-6E8A-4147-A177-3AD203B41FA5}">
                      <a16:colId xmlns:a16="http://schemas.microsoft.com/office/drawing/2014/main" val="4208412275"/>
                    </a:ext>
                  </a:extLst>
                </a:gridCol>
                <a:gridCol w="3180044">
                  <a:extLst>
                    <a:ext uri="{9D8B030D-6E8A-4147-A177-3AD203B41FA5}">
                      <a16:colId xmlns:a16="http://schemas.microsoft.com/office/drawing/2014/main" val="1695913719"/>
                    </a:ext>
                  </a:extLst>
                </a:gridCol>
                <a:gridCol w="879739">
                  <a:extLst>
                    <a:ext uri="{9D8B030D-6E8A-4147-A177-3AD203B41FA5}">
                      <a16:colId xmlns:a16="http://schemas.microsoft.com/office/drawing/2014/main" val="1947050798"/>
                    </a:ext>
                  </a:extLst>
                </a:gridCol>
                <a:gridCol w="1248841">
                  <a:extLst>
                    <a:ext uri="{9D8B030D-6E8A-4147-A177-3AD203B41FA5}">
                      <a16:colId xmlns:a16="http://schemas.microsoft.com/office/drawing/2014/main" val="2677595599"/>
                    </a:ext>
                  </a:extLst>
                </a:gridCol>
              </a:tblGrid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24" marR="5324" marT="532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NETCHECK KPIS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24" marR="5324" marT="532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GAP Three vs EE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24" marR="5324" marT="532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Type of KPI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3268863048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FDFS DL SUCCESS RATIO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45.16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7389773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DL THROUGHPUT &gt; 2Mbit/s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12.57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90446821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DL THROUGHPUT &gt; 5Mbit/s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12.39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71051621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CLASSIC CALLS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CALL SUCCESS RATIO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7.44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91753047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INTERACTIVITY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INTERACTIVITY PACKET ERROR RATIO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7.43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412573719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DL THROUGHPUT &gt; 20Mbit/s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6.84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3736208195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HTTP/HTTPs BROWSING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BROWSING SUCCESS RATIO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6.66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3631481158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WHATSAPP CALLS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CALL SUCCESS RATIO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5.87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3939779345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VIDEO STREAM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VIDEO STREAMING SUCCESS RATIO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4.41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17424497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CLASSIC CALLS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DISTURBED &amp; IMPAIRED CALL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3.98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663711587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FDFS DL TRANSFER TIME [s]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3.50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3198104682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UL THROUGHPUT &gt; 10Mbit/s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2.57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4208490388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DL THROUGHPUT &gt; 100Mbit/s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2.19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3882296282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CLASSIC CALLS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POLQA &lt; 1.6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2.12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2251495015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UL THROUGHPUT &gt; 3Mbit/s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2.08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3607308445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TRANSFER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FDTT UL THROUGHPUT &gt; 1Mbit/s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1.93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3118846140"/>
                  </a:ext>
                </a:extLst>
              </a:tr>
              <a:tr h="1331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WHATSAPP CALLS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POLQA &lt; 1.6 [%]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1.67</a:t>
                      </a:r>
                    </a:p>
                  </a:txBody>
                  <a:tcPr marL="7620" marR="7620" marT="762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+mn-lt"/>
                      </a:endParaRPr>
                    </a:p>
                  </a:txBody>
                  <a:tcPr marL="5324" marR="5324" marT="5324" marB="0" anchor="b"/>
                </a:tc>
                <a:extLst>
                  <a:ext uri="{0D108BD9-81ED-4DB2-BD59-A6C34878D82A}">
                    <a16:rowId xmlns:a16="http://schemas.microsoft.com/office/drawing/2014/main" val="2684343519"/>
                  </a:ext>
                </a:extLst>
              </a:tr>
            </a:tbl>
          </a:graphicData>
        </a:graphic>
      </p:graphicFrame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5896B9CD-9092-F644-2E98-782E55392649}"/>
              </a:ext>
            </a:extLst>
          </p:cNvPr>
          <p:cNvSpPr txBox="1">
            <a:spLocks/>
          </p:cNvSpPr>
          <p:nvPr/>
        </p:nvSpPr>
        <p:spPr>
          <a:xfrm>
            <a:off x="7649792" y="1947040"/>
            <a:ext cx="4248220" cy="4112328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800">
                <a:sym typeface="Wingdings" panose="05000000000000000000" pitchFamily="2" charset="2"/>
              </a:rPr>
              <a:t>Three with highest gap in data qualifier (FDFS DL </a:t>
            </a:r>
            <a:r>
              <a:rPr lang="en-US" sz="1800" b="1">
                <a:sym typeface="Wingdings" panose="05000000000000000000" pitchFamily="2" charset="2"/>
              </a:rPr>
              <a:t>45 points </a:t>
            </a:r>
            <a:r>
              <a:rPr lang="en-US" sz="1800">
                <a:sym typeface="Wingdings" panose="05000000000000000000" pitchFamily="2" charset="2"/>
              </a:rPr>
              <a:t>gap with EE, browsing and YouTube 11 points).</a:t>
            </a:r>
          </a:p>
          <a:p>
            <a:r>
              <a:rPr lang="en-US" sz="1800">
                <a:sym typeface="Wingdings" panose="05000000000000000000" pitchFamily="2" charset="2"/>
              </a:rPr>
              <a:t>Low DL throughput samples for FDTT DL showing a gap of </a:t>
            </a:r>
            <a:r>
              <a:rPr lang="en-US" sz="1800" b="1">
                <a:sym typeface="Wingdings" panose="05000000000000000000" pitchFamily="2" charset="2"/>
              </a:rPr>
              <a:t>30 points </a:t>
            </a:r>
            <a:r>
              <a:rPr lang="en-US" sz="1800">
                <a:sym typeface="Wingdings" panose="05000000000000000000" pitchFamily="2" charset="2"/>
              </a:rPr>
              <a:t>with EE</a:t>
            </a:r>
          </a:p>
          <a:p>
            <a:r>
              <a:rPr lang="en-US" sz="1800">
                <a:sym typeface="Wingdings" panose="05000000000000000000" pitchFamily="2" charset="2"/>
              </a:rPr>
              <a:t>Voice qualifiers showing 13 points gap.</a:t>
            </a:r>
          </a:p>
          <a:p>
            <a:endParaRPr lang="en-US" sz="1800">
              <a:sym typeface="Wingdings" panose="05000000000000000000" pitchFamily="2" charset="2"/>
            </a:endParaRPr>
          </a:p>
          <a:p>
            <a:endParaRPr lang="en-US" sz="1800">
              <a:sym typeface="Wingdings" panose="05000000000000000000" pitchFamily="2" charset="2"/>
            </a:endParaRPr>
          </a:p>
          <a:p>
            <a:pPr marL="265113" lvl="1" indent="0">
              <a:buFont typeface="Ericsson Hilda" panose="00000500000000000000" pitchFamily="2" charset="0"/>
              <a:buNone/>
            </a:pPr>
            <a:endParaRPr lang="en-US" sz="1800">
              <a:sym typeface="Wingdings" panose="05000000000000000000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23153-839D-9887-B351-F29FE86D2D56}"/>
              </a:ext>
            </a:extLst>
          </p:cNvPr>
          <p:cNvSpPr txBox="1"/>
          <p:nvPr/>
        </p:nvSpPr>
        <p:spPr>
          <a:xfrm>
            <a:off x="9647274" y="4596635"/>
            <a:ext cx="2250738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latin typeface="+mn-lt"/>
              </a:rPr>
              <a:t>Low-rate DL sessions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2BBF77-7116-540E-4E42-8CA2CC91348E}"/>
              </a:ext>
            </a:extLst>
          </p:cNvPr>
          <p:cNvSpPr txBox="1"/>
          <p:nvPr/>
        </p:nvSpPr>
        <p:spPr>
          <a:xfrm>
            <a:off x="7689715" y="5075223"/>
            <a:ext cx="2032870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/>
              <a:t>Voice Qualifiers</a:t>
            </a:r>
            <a:endParaRPr lang="en-US" sz="1600" b="1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FB717-1FE3-5715-D630-86758655E6D5}"/>
              </a:ext>
            </a:extLst>
          </p:cNvPr>
          <p:cNvSpPr txBox="1"/>
          <p:nvPr/>
        </p:nvSpPr>
        <p:spPr>
          <a:xfrm>
            <a:off x="8718660" y="4156289"/>
            <a:ext cx="2057890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>
                <a:latin typeface="+mn-lt"/>
              </a:rPr>
              <a:t>Focus Areas Three: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ED027-5F9E-9895-4D89-8944C5853005}"/>
              </a:ext>
            </a:extLst>
          </p:cNvPr>
          <p:cNvSpPr txBox="1"/>
          <p:nvPr/>
        </p:nvSpPr>
        <p:spPr>
          <a:xfrm>
            <a:off x="7689715" y="4589681"/>
            <a:ext cx="1732265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/>
              <a:t>Data qualifiers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65241A-3516-9DA3-4A58-4052B9C6AC9F}"/>
              </a:ext>
            </a:extLst>
          </p:cNvPr>
          <p:cNvSpPr txBox="1"/>
          <p:nvPr/>
        </p:nvSpPr>
        <p:spPr>
          <a:xfrm>
            <a:off x="7469648" y="5597967"/>
            <a:ext cx="2261426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n-lt"/>
              </a:rPr>
              <a:t>Disturbed and impaired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31998B-62A9-47E6-1243-305D48F1CD74}"/>
              </a:ext>
            </a:extLst>
          </p:cNvPr>
          <p:cNvSpPr txBox="1"/>
          <p:nvPr/>
        </p:nvSpPr>
        <p:spPr>
          <a:xfrm>
            <a:off x="9906510" y="5600908"/>
            <a:ext cx="1732265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n-lt"/>
              </a:rPr>
              <a:t>Interactivity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075AEE-3E9A-8DD4-664F-AE96FA23E699}"/>
              </a:ext>
            </a:extLst>
          </p:cNvPr>
          <p:cNvSpPr txBox="1"/>
          <p:nvPr/>
        </p:nvSpPr>
        <p:spPr>
          <a:xfrm>
            <a:off x="9865141" y="5075223"/>
            <a:ext cx="2032871" cy="33855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/>
              <a:t>POLQA&lt;1.6</a:t>
            </a:r>
            <a:endParaRPr lang="en-US" sz="1600" b="1">
              <a:latin typeface="+mn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EABCB2-627A-AAB1-A7DE-793DD98B9570}"/>
              </a:ext>
            </a:extLst>
          </p:cNvPr>
          <p:cNvCxnSpPr>
            <a:cxnSpLocks/>
          </p:cNvCxnSpPr>
          <p:nvPr/>
        </p:nvCxnSpPr>
        <p:spPr bwMode="auto">
          <a:xfrm>
            <a:off x="440843" y="1586389"/>
            <a:ext cx="0" cy="3685222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F219DF9-D34B-3E5D-50E3-07C8B2663C92}"/>
              </a:ext>
            </a:extLst>
          </p:cNvPr>
          <p:cNvSpPr txBox="1"/>
          <p:nvPr/>
        </p:nvSpPr>
        <p:spPr>
          <a:xfrm>
            <a:off x="50393" y="1249561"/>
            <a:ext cx="858064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+mn-lt"/>
              </a:rPr>
              <a:t>Priority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229128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369E7-B9B4-BCEB-8F49-99C4BA58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close up of a blue surface&#10;&#10;AI-generated content may be incorrect.">
            <a:extLst>
              <a:ext uri="{FF2B5EF4-FFF2-40B4-BE49-F238E27FC236}">
                <a16:creationId xmlns:a16="http://schemas.microsoft.com/office/drawing/2014/main" id="{D772A2B2-CE8A-6AA3-3002-7EDAFFDFF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image">
            <a:extLst>
              <a:ext uri="{FF2B5EF4-FFF2-40B4-BE49-F238E27FC236}">
                <a16:creationId xmlns:a16="http://schemas.microsoft.com/office/drawing/2014/main" id="{4C16A9A5-3AEA-2B2E-42E7-EEB1BD56C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6179F2E6-08A1-E2D1-58E6-568E0C3D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8353426" cy="1081088"/>
          </a:xfrm>
        </p:spPr>
        <p:txBody>
          <a:bodyPr/>
          <a:lstStyle/>
          <a:p>
            <a:r>
              <a:rPr lang="en-US" sz="4800" dirty="0"/>
              <a:t>7 cities analysis</a:t>
            </a:r>
            <a:br>
              <a:rPr lang="en-US" sz="4800" dirty="0"/>
            </a:br>
            <a:br>
              <a:rPr lang="en-US" sz="4800" dirty="0"/>
            </a:br>
            <a:r>
              <a:rPr lang="en-US" dirty="0"/>
              <a:t>Belfast, Bristol, Cardiff, Edinburgh, London, Leeds and Sheffield</a:t>
            </a:r>
            <a:br>
              <a:rPr lang="en-US" sz="4800" dirty="0"/>
            </a:br>
            <a:endParaRPr lang="en-US" sz="4800" dirty="0"/>
          </a:p>
        </p:txBody>
      </p:sp>
      <p:pic>
        <p:nvPicPr>
          <p:cNvPr id="32" name="image">
            <a:extLst>
              <a:ext uri="{FF2B5EF4-FFF2-40B4-BE49-F238E27FC236}">
                <a16:creationId xmlns:a16="http://schemas.microsoft.com/office/drawing/2014/main" id="{0AD13F97-5FB6-AA11-8C2D-92F6C00381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532241" y="581821"/>
            <a:ext cx="482228" cy="4824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2352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F508-1120-DEBF-44EC-676179018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399217-524F-D4D4-DEC7-689FDE9A0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5" y="1233445"/>
            <a:ext cx="9388475" cy="439111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76646654-D34B-4BC0-16F4-5CEF3611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941050" cy="1081088"/>
          </a:xfrm>
        </p:spPr>
        <p:txBody>
          <a:bodyPr/>
          <a:lstStyle/>
          <a:p>
            <a:r>
              <a:rPr lang="en-US" dirty="0"/>
              <a:t>Completed Call Ratio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F7E8881-1E51-5A7D-C43E-6AF80D97320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896350" y="3181349"/>
            <a:ext cx="2687759" cy="2443206"/>
          </a:xfrm>
        </p:spPr>
        <p:txBody>
          <a:bodyPr/>
          <a:lstStyle/>
          <a:p>
            <a:r>
              <a:rPr lang="en-US" dirty="0"/>
              <a:t>Three having worse performance in VoLTE and WhatsApp in Q4.</a:t>
            </a:r>
          </a:p>
          <a:p>
            <a:r>
              <a:rPr lang="en-US" dirty="0"/>
              <a:t>Small degradation in WhatsApp for Vodafone in Q4.</a:t>
            </a:r>
          </a:p>
          <a:p>
            <a:endParaRPr lang="en-US" dirty="0"/>
          </a:p>
          <a:p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3CA1241-FE91-4C36-22EE-9377375124DD}"/>
              </a:ext>
            </a:extLst>
          </p:cNvPr>
          <p:cNvCxnSpPr>
            <a:cxnSpLocks/>
          </p:cNvCxnSpPr>
          <p:nvPr/>
        </p:nvCxnSpPr>
        <p:spPr bwMode="auto">
          <a:xfrm flipV="1">
            <a:off x="7942896" y="5393943"/>
            <a:ext cx="273685" cy="29041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079321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A9D0A-B719-F4C7-D29C-064B099ED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243510-D529-245C-F96A-0D2B348D1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78" y="1316848"/>
            <a:ext cx="10821338" cy="32692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1B22D6-8539-1128-7007-2DE6ACA9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8353426" cy="1081088"/>
          </a:xfrm>
        </p:spPr>
        <p:txBody>
          <a:bodyPr wrap="square" anchor="t">
            <a:normAutofit/>
          </a:bodyPr>
          <a:lstStyle/>
          <a:p>
            <a:r>
              <a:rPr lang="en-US"/>
              <a:t>Voice failures per Q/city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F7D7E4-F12D-2ABD-ADF2-B8F85F85C16E}"/>
              </a:ext>
            </a:extLst>
          </p:cNvPr>
          <p:cNvSpPr txBox="1"/>
          <p:nvPr/>
        </p:nvSpPr>
        <p:spPr>
          <a:xfrm flipH="1">
            <a:off x="589278" y="4965044"/>
            <a:ext cx="102616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/>
              <a:t>Three: higher number of Volte and WhatsApp </a:t>
            </a:r>
            <a:r>
              <a:rPr lang="en-US"/>
              <a:t>failed calls</a:t>
            </a:r>
            <a:r>
              <a:rPr lang="en-US" sz="1800"/>
              <a:t> in London in Q4 compared to Q3. </a:t>
            </a:r>
            <a:endParaRPr lang="en-US"/>
          </a:p>
          <a:p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Vodafone showing similar number of voice failures in Q4 and even improvement in Sheffield figures for VoLTE service.</a:t>
            </a:r>
          </a:p>
        </p:txBody>
      </p:sp>
    </p:spTree>
    <p:extLst>
      <p:ext uri="{BB962C8B-B14F-4D97-AF65-F5344CB8AC3E}">
        <p14:creationId xmlns:p14="http://schemas.microsoft.com/office/powerpoint/2010/main" val="22881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3DA2-FF2E-BCEC-81AE-27064E20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0F01FA-20CA-3E12-08B7-531ACA3D0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1104231"/>
            <a:ext cx="9445401" cy="49877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42B162-F98E-99F9-8B49-2477C6BE0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8353426" cy="1081088"/>
          </a:xfrm>
        </p:spPr>
        <p:txBody>
          <a:bodyPr wrap="square" anchor="t">
            <a:normAutofit/>
          </a:bodyPr>
          <a:lstStyle/>
          <a:p>
            <a:r>
              <a:rPr lang="en-US"/>
              <a:t>Data failure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0483B8-AA06-4E17-58D8-27A87A01636F}"/>
              </a:ext>
            </a:extLst>
          </p:cNvPr>
          <p:cNvSpPr txBox="1"/>
          <p:nvPr/>
        </p:nvSpPr>
        <p:spPr>
          <a:xfrm flipH="1">
            <a:off x="9244425" y="1733661"/>
            <a:ext cx="27415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Worse data qualifiers in Q4 for Vodafone compared to Q3 for all data services. </a:t>
            </a:r>
          </a:p>
          <a:p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Biggest gap on FDFS DL&amp;UL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62082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025E-520A-3552-CA67-12C9DAF7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06A865-6CC8-55B5-09FD-39F468D26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278610"/>
            <a:ext cx="8760983" cy="40175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AE2431-24A3-60EB-DD5B-B8D5582E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8353426" cy="1081088"/>
          </a:xfrm>
        </p:spPr>
        <p:txBody>
          <a:bodyPr wrap="square" anchor="t">
            <a:normAutofit/>
          </a:bodyPr>
          <a:lstStyle/>
          <a:p>
            <a:r>
              <a:rPr lang="en-US"/>
              <a:t>Data failures - FDFS test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CF9C3-8501-4B3B-5659-1634CB9433A6}"/>
              </a:ext>
            </a:extLst>
          </p:cNvPr>
          <p:cNvSpPr txBox="1"/>
          <p:nvPr/>
        </p:nvSpPr>
        <p:spPr>
          <a:xfrm flipH="1">
            <a:off x="8324740" y="2071936"/>
            <a:ext cx="34849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dirty="0"/>
              <a:t>Three: </a:t>
            </a:r>
            <a:r>
              <a:rPr lang="en-US" dirty="0"/>
              <a:t>failures in Q4 in FDFS coming from https DL as already known</a:t>
            </a:r>
            <a:endParaRPr lang="en-US" sz="1800" dirty="0"/>
          </a:p>
          <a:p>
            <a:pPr marL="285750" indent="-285750">
              <a:buFontTx/>
              <a:buChar char="-"/>
            </a:pPr>
            <a:endParaRPr lang="en-US" sz="1800" dirty="0"/>
          </a:p>
          <a:p>
            <a:pPr marL="285750" indent="-285750">
              <a:buFontTx/>
              <a:buChar char="-"/>
            </a:pPr>
            <a:r>
              <a:rPr lang="en-US" dirty="0"/>
              <a:t>Vodafone: increased of data failures in FDFS DL&amp;UL in Q4. Higher FDFS UL failure ratio compared to three and EE in Q4. </a:t>
            </a:r>
          </a:p>
        </p:txBody>
      </p:sp>
    </p:spTree>
    <p:extLst>
      <p:ext uri="{BB962C8B-B14F-4D97-AF65-F5344CB8AC3E}">
        <p14:creationId xmlns:p14="http://schemas.microsoft.com/office/powerpoint/2010/main" val="1370145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418A-0D3A-4D61-8BE0-93844D222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1E78-B5F9-A110-7E7F-08C3B1E9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POLQA AVG MOS (</a:t>
            </a:r>
            <a:r>
              <a:rPr lang="en-US" err="1"/>
              <a:t>Multirab&amp;volte</a:t>
            </a:r>
            <a:r>
              <a:rPr lang="en-US"/>
              <a:t>)</a:t>
            </a:r>
            <a:br>
              <a:rPr lang="en-US"/>
            </a:b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1010A3-91AA-9646-21DF-EEA54E9942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09"/>
          <a:stretch>
            <a:fillRect/>
          </a:stretch>
        </p:blipFill>
        <p:spPr>
          <a:xfrm>
            <a:off x="479425" y="1254562"/>
            <a:ext cx="8957642" cy="400831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41C166F-6B9A-A955-FCB9-B95C486ECB3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1094" y="5300662"/>
            <a:ext cx="9726881" cy="1081088"/>
          </a:xfrm>
        </p:spPr>
        <p:txBody>
          <a:bodyPr/>
          <a:lstStyle/>
          <a:p>
            <a:r>
              <a:rPr lang="en-US"/>
              <a:t>Degradation observed in Three in POLQA AVG MOS in Q4 compared to Q2 in </a:t>
            </a:r>
            <a:r>
              <a:rPr lang="en-US" err="1"/>
              <a:t>cdf</a:t>
            </a:r>
            <a:r>
              <a:rPr lang="en-US"/>
              <a:t>.</a:t>
            </a:r>
          </a:p>
          <a:p>
            <a:r>
              <a:rPr lang="en-US"/>
              <a:t>Similar performance for Vodafone across Qs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93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328A-697D-0F6C-2F5D-AC27BC433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349ED66-6D9F-7B0F-5AD0-7A8DDF418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466850"/>
            <a:ext cx="8524876" cy="3409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ADCAC0-FFEE-E3EE-E424-823A3FCE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POLQA AVG MOS (WhatsApp)</a:t>
            </a:r>
            <a:br>
              <a:rPr lang="en-US"/>
            </a:b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CDDDF2-145E-E680-807E-CC483DF4345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8219" y="5097223"/>
            <a:ext cx="9726881" cy="1081088"/>
          </a:xfrm>
        </p:spPr>
        <p:txBody>
          <a:bodyPr/>
          <a:lstStyle/>
          <a:p>
            <a:r>
              <a:rPr lang="en-US"/>
              <a:t>Similar performance for Vodafone in POLQA avg MOS for WhatsApp across Qs.</a:t>
            </a:r>
          </a:p>
          <a:p>
            <a:r>
              <a:rPr lang="en-US"/>
              <a:t>Three having small improvement in POLQA Avg MOS for WhatsApp service, mainly visible from p20 percentile</a:t>
            </a:r>
          </a:p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770F48-0D0A-1E69-7931-E2910B51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25" y="3057955"/>
            <a:ext cx="3449512" cy="18941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979B9C-F9B0-B68B-281A-4E76C8092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981" y="2176249"/>
            <a:ext cx="715618" cy="69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9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8D0F7-1C70-1489-600B-E3A8D7262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B4304E-468A-6D80-A5EC-7E8540B23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23"/>
          <a:stretch>
            <a:fillRect/>
          </a:stretch>
        </p:blipFill>
        <p:spPr>
          <a:xfrm>
            <a:off x="5779890" y="1594365"/>
            <a:ext cx="6105921" cy="27187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045BBB-16E2-65EC-3EF2-1D833FF6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POLQA &lt;1.6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A8340E4-251B-0EB9-0F2C-4E8B8C4F16A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98879" y="4603390"/>
            <a:ext cx="9564321" cy="1081088"/>
          </a:xfrm>
        </p:spPr>
        <p:txBody>
          <a:bodyPr/>
          <a:lstStyle/>
          <a:p>
            <a:r>
              <a:rPr lang="en-US"/>
              <a:t>Small degradation observed in Vodafone from Q4 compared to Q2 in POLQA &lt;1.6 rate in WhatsApp calls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863193-32BD-8819-FD75-C6AA8E24E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74" y="1343504"/>
            <a:ext cx="5345316" cy="296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95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9437E-5595-8CC9-B760-57663CCC0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B5E6-9079-1720-9B5B-1E3E838D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CST</a:t>
            </a:r>
            <a:br>
              <a:rPr lang="en-US"/>
            </a:b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C42BDD-1C43-5371-436B-9AD6EFC944C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41424" y="5666098"/>
            <a:ext cx="11244481" cy="1081088"/>
          </a:xfrm>
        </p:spPr>
        <p:txBody>
          <a:bodyPr/>
          <a:lstStyle/>
          <a:p>
            <a:r>
              <a:rPr lang="en-US" sz="1800"/>
              <a:t>Improvement in CST in Q4 for Vodafone compared to Q3 and Q2</a:t>
            </a:r>
          </a:p>
          <a:p>
            <a:r>
              <a:rPr lang="en-US" sz="1800"/>
              <a:t>Three showing degradation in CST in Q4 compared to Q2, mainly on higher percentiles.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3656E-58DF-91EF-E66E-51B0E07D2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415" y="1238060"/>
            <a:ext cx="9579170" cy="43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44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C583-44F6-A835-BFFB-828E86F2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DF1F45-954B-C68C-0668-E5CCBFDFC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77" y="1119050"/>
            <a:ext cx="11532123" cy="41862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E9041E-E0D3-16B3-0E4C-3C0AACD01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FDTT DL (7s)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AA1AF8-77BF-E885-509A-CAF975E449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5381804"/>
            <a:ext cx="11244481" cy="1081088"/>
          </a:xfrm>
        </p:spPr>
        <p:txBody>
          <a:bodyPr/>
          <a:lstStyle/>
          <a:p>
            <a:r>
              <a:rPr lang="en-US" sz="1800" dirty="0"/>
              <a:t>Vodafone improved in Q4 compared to Q3 in FDTT DL throughput performance, having similar performance compared to Q2. Lower share of low-rate sessions observed in Q4 compared to Q3. </a:t>
            </a:r>
          </a:p>
          <a:p>
            <a:r>
              <a:rPr lang="en-US" sz="1800" dirty="0"/>
              <a:t>Three having similar performance in Q4 vs Q3, showing lower low-rate sessions in Q4 compared to Q3, mainly below 20 &amp; below 5mbps.</a:t>
            </a:r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EB7C74-406B-117E-B3E6-4ABAB6ADC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3204" y="2857449"/>
            <a:ext cx="870382" cy="8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03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495C4-6E7E-4737-D849-845AC857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B6D70-AA14-FC9A-78F2-79C549D8E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47" y="907827"/>
            <a:ext cx="10094450" cy="45914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4503A1-DD43-6AF4-9F09-B3409DD3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FDTT UL (7s)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A5D25AE-2EB6-11BC-4112-3D781E4D09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7919" y="5410777"/>
            <a:ext cx="10866107" cy="1081088"/>
          </a:xfrm>
        </p:spPr>
        <p:txBody>
          <a:bodyPr/>
          <a:lstStyle/>
          <a:p>
            <a:r>
              <a:rPr lang="en-US" sz="1800"/>
              <a:t>Vodafone having similar performance in Q4 compared to Q3 in FDTT UL throughput performance. Lower share of low-rate sessions observed in Q4 compared to Q3. </a:t>
            </a:r>
          </a:p>
          <a:p>
            <a:r>
              <a:rPr lang="en-US" sz="1800"/>
              <a:t>Three having lower low-rate sessions in Q4 compared to Q3, mainly below 20 &amp; below 3mbps.</a:t>
            </a:r>
          </a:p>
          <a:p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D07A8-3270-C30E-1A1D-006B2951C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622" y="2500580"/>
            <a:ext cx="789456" cy="76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40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09529-5F66-7304-BCC8-6E78D9ED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3E7DCB5-4355-CD5E-1B8E-3135C70EE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36" y="954916"/>
            <a:ext cx="11514339" cy="49441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E3126D-7A01-E155-A532-CB49B0CC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FDFS DL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E4FFA2F-7FA9-7AE2-A446-4222F2FD7E0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5899050"/>
            <a:ext cx="11244481" cy="563842"/>
          </a:xfrm>
        </p:spPr>
        <p:txBody>
          <a:bodyPr/>
          <a:lstStyle/>
          <a:p>
            <a:r>
              <a:rPr lang="en-US" sz="1800"/>
              <a:t>Vodafone degraded FDFS DL throughput in Q4 compared to Q3, having similar performance as in Q2.</a:t>
            </a:r>
          </a:p>
          <a:p>
            <a:r>
              <a:rPr lang="en-US" sz="1800"/>
              <a:t>Three showing similar performance in Q4 and Q3.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1176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A0C2D-B815-F067-3E3A-A4487C508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174D16-6117-F665-3A96-AE967E745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229856"/>
            <a:ext cx="9591526" cy="43982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8B2D2C-C1DA-E717-C97E-F1166CA6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FDFS UL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1FE442A-9ACF-CB40-286E-CF3F6101346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625" y="5817908"/>
            <a:ext cx="11244481" cy="563842"/>
          </a:xfrm>
        </p:spPr>
        <p:txBody>
          <a:bodyPr/>
          <a:lstStyle/>
          <a:p>
            <a:r>
              <a:rPr lang="en-US" sz="1800"/>
              <a:t>Vodafone improved the FDFS UL throughput in Q4 compared to Q3, showing also better transfer time in UL.</a:t>
            </a:r>
          </a:p>
          <a:p>
            <a:r>
              <a:rPr lang="en-US" sz="1800"/>
              <a:t>Three having similar performance in FDFS UL throughput compared to Q3.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16402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9AC0F-2A8F-4529-606A-D0FB4F32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331418-455C-28AB-4414-395E775D43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27"/>
          <a:stretch>
            <a:fillRect/>
          </a:stretch>
        </p:blipFill>
        <p:spPr>
          <a:xfrm>
            <a:off x="479425" y="1199674"/>
            <a:ext cx="7877002" cy="51107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ABDCE-9BEE-F150-D102-8F2382C4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Interactivity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CBE3DFC-E6A8-1A20-9232-D699CCEDD8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780654" y="3429000"/>
            <a:ext cx="3931921" cy="2881440"/>
          </a:xfrm>
        </p:spPr>
        <p:txBody>
          <a:bodyPr/>
          <a:lstStyle/>
          <a:p>
            <a:r>
              <a:rPr lang="en-US" dirty="0"/>
              <a:t>Worse performance for Vodafone in Q4 in interactivity RTT compared to Q3.</a:t>
            </a:r>
          </a:p>
          <a:p>
            <a:endParaRPr lang="en-US" dirty="0"/>
          </a:p>
          <a:p>
            <a:r>
              <a:rPr lang="en-US" dirty="0"/>
              <a:t>Three having similar performance in interactivity RTT and packet error ratio compared to Q3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CCB7E9-19AA-9CFC-1989-E96D96DDA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997" y="1911837"/>
            <a:ext cx="730430" cy="71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78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60FA1-3130-D48D-AE85-6584EE92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ADF741-1282-39E9-18B9-EC8B9305A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4" y="1226338"/>
            <a:ext cx="10759963" cy="39059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E8C70-5FF5-E51B-B320-3BE1AE88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8353426" cy="1081088"/>
          </a:xfrm>
        </p:spPr>
        <p:txBody>
          <a:bodyPr wrap="square" anchor="t">
            <a:normAutofit/>
          </a:bodyPr>
          <a:lstStyle/>
          <a:p>
            <a:r>
              <a:rPr lang="en-US"/>
              <a:t>Browsing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E52F371-0669-15C7-1833-E7230877246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3499" y="5375911"/>
            <a:ext cx="10623828" cy="1116330"/>
          </a:xfrm>
        </p:spPr>
        <p:txBody>
          <a:bodyPr>
            <a:normAutofit/>
          </a:bodyPr>
          <a:lstStyle/>
          <a:p>
            <a:r>
              <a:rPr lang="en-US"/>
              <a:t>Similar performance for Vodafone and Three in Q4 compared to Q3 in browsing time to 1MB. 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068FD-FF5D-E36A-6C8D-A8B39119B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679" y="2095475"/>
            <a:ext cx="769646" cy="74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19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F175D-D609-4B09-CC96-047698E7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FC92183-B357-C2DE-0D13-0014FE01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521950" cy="1081088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Conclusions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EA75BF-1EE3-5420-2340-CA2586484C70}"/>
              </a:ext>
            </a:extLst>
          </p:cNvPr>
          <p:cNvGraphicFramePr>
            <a:graphicFrameLocks noGrp="1"/>
          </p:cNvGraphicFramePr>
          <p:nvPr/>
        </p:nvGraphicFramePr>
        <p:xfrm>
          <a:off x="222388" y="1294534"/>
          <a:ext cx="11622157" cy="4864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983">
                  <a:extLst>
                    <a:ext uri="{9D8B030D-6E8A-4147-A177-3AD203B41FA5}">
                      <a16:colId xmlns:a16="http://schemas.microsoft.com/office/drawing/2014/main" val="1231941871"/>
                    </a:ext>
                  </a:extLst>
                </a:gridCol>
                <a:gridCol w="5672759">
                  <a:extLst>
                    <a:ext uri="{9D8B030D-6E8A-4147-A177-3AD203B41FA5}">
                      <a16:colId xmlns:a16="http://schemas.microsoft.com/office/drawing/2014/main" val="819676662"/>
                    </a:ext>
                  </a:extLst>
                </a:gridCol>
                <a:gridCol w="2185780">
                  <a:extLst>
                    <a:ext uri="{9D8B030D-6E8A-4147-A177-3AD203B41FA5}">
                      <a16:colId xmlns:a16="http://schemas.microsoft.com/office/drawing/2014/main" val="3964278779"/>
                    </a:ext>
                  </a:extLst>
                </a:gridCol>
                <a:gridCol w="3107635">
                  <a:extLst>
                    <a:ext uri="{9D8B030D-6E8A-4147-A177-3AD203B41FA5}">
                      <a16:colId xmlns:a16="http://schemas.microsoft.com/office/drawing/2014/main" val="1255488726"/>
                    </a:ext>
                  </a:extLst>
                </a:gridCol>
              </a:tblGrid>
              <a:tr h="2269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Operator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Main Finding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Recommendation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Potential Scoring Impact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extLst>
                  <a:ext uri="{0D108BD9-81ED-4DB2-BD59-A6C34878D82A}">
                    <a16:rowId xmlns:a16="http://schemas.microsoft.com/office/drawing/2014/main" val="2863621968"/>
                  </a:ext>
                </a:extLst>
              </a:tr>
              <a:tr h="226921"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VFE</a:t>
                      </a:r>
                      <a:endParaRPr lang="en-US" sz="1200" b="1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Higher data failure ratio in all data test, but specially in FDFS DL&amp;UL in Q4 compared to Q3. </a:t>
                      </a:r>
                      <a:endParaRPr lang="en-US" sz="1200" b="0" i="0" u="none" strike="noStrike" dirty="0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E2E analysis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Data services Success Ratio ('Most reliable’) (FDFS DL&amp;UL, Browsing and Video)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4118443984"/>
                  </a:ext>
                </a:extLst>
              </a:tr>
              <a:tr h="2269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Improvement in CST in Q4 compared to Q3 and Q2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CALL SETUP TIME (‘Best Network’)</a:t>
                      </a: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2196451456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Improvement in FDTT DL throughput performance in Q4 vs Q3 (* due to change in the CORE), matching similar trends as in Q2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FDTT DL Throughput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1662449492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Degradation in FDFS DL throughput performance in Q4 vs Q3 (* due to change in the CORE), matching similar trends as in Q2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FDFS DL Transfer Time</a:t>
                      </a: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1926149615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Higher Interactivity RTT in Q4 compared to Q3, similar figures as in Q2 (*). London showing poorer performance in Q4 compared to Q2.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E2E analysis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Interactivity RTT </a:t>
                      </a: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(‘Best Network’)</a:t>
                      </a: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1658485777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Throughput performance when connecting to 3UK MOCN nodes mimics the 3UK performance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FDTT and FDFS DL&amp;UL Throughput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1527490177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1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Better Throughput performance when connecting to VFUK MOCN nodes. This relates with the higher NR TDD utilization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FDTT and FDFS DL&amp;UL Throughput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2271828910"/>
                  </a:ext>
                </a:extLst>
              </a:tr>
              <a:tr h="404557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Three</a:t>
                      </a:r>
                      <a:endParaRPr lang="en-US" sz="1000" u="none" strike="noStrike">
                        <a:effectLst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 High unqualified data sessions in FDFS DL HTTPS test (not RF related) still present in Q4 in NSA CDR. In SA CDR this problem is not present.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 E2E analysis. E2E core tracing needed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 FDFS DL Success Ratio ('Most reliable')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777" marR="6777" marT="6777" marB="0" anchor="ctr"/>
                </a:tc>
                <a:extLst>
                  <a:ext uri="{0D108BD9-81ED-4DB2-BD59-A6C34878D82A}">
                    <a16:rowId xmlns:a16="http://schemas.microsoft.com/office/drawing/2014/main" val="524180120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Lower Call Success ratio in Q4 in London compared to Q3 (higher number of VoLTE failures)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Detail Log analysis of failures cases 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Call Success Ratio ('Most reliable')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3167912453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/>
                        <a:t>Degradation observed in POLQA AVG MOS in Q4 compared to Q3 mainly in Belfast and Sheffield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POLQA Avg MOS</a:t>
                      </a: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252388039"/>
                  </a:ext>
                </a:extLst>
              </a:tr>
              <a:tr h="22692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Throughput performance when connecting to VFUK MOCN nodes mimics the VFUK performance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effectLst/>
                        </a:rPr>
                        <a:t>FDTT and FDFS DL&amp;UL Throughput</a:t>
                      </a: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2097528208"/>
                  </a:ext>
                </a:extLst>
              </a:tr>
              <a:tr h="407636"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u="none" strike="noStrike">
                        <a:effectLst/>
                      </a:endParaRPr>
                    </a:p>
                  </a:txBody>
                  <a:tcPr marL="6777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181818"/>
                          </a:solidFill>
                          <a:effectLst/>
                          <a:latin typeface="Ericsson Hilda" panose="00000500000000000000" pitchFamily="2" charset="0"/>
                        </a:rPr>
                        <a:t>Better Throughput performance when connecting to 3UK MOCN nodes. This relates with the higher NR TDD utilization</a:t>
                      </a: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200" b="0" i="0" u="none" strike="noStrike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FDTT and FDFS DL&amp;UL Throughput</a:t>
                      </a:r>
                      <a:endParaRPr lang="en-US" sz="1200" b="0" i="0" u="none" strike="noStrike" dirty="0">
                        <a:solidFill>
                          <a:srgbClr val="181818"/>
                        </a:solidFill>
                        <a:effectLst/>
                        <a:latin typeface="Ericsson Hilda" panose="00000500000000000000" pitchFamily="2" charset="0"/>
                      </a:endParaRPr>
                    </a:p>
                  </a:txBody>
                  <a:tcPr marL="60998" marR="6777" marT="6777" marB="0" anchor="ctr"/>
                </a:tc>
                <a:extLst>
                  <a:ext uri="{0D108BD9-81ED-4DB2-BD59-A6C34878D82A}">
                    <a16:rowId xmlns:a16="http://schemas.microsoft.com/office/drawing/2014/main" val="20009375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902FAD-7E06-3A1D-CB2A-3D5D0CBE8010}"/>
              </a:ext>
            </a:extLst>
          </p:cNvPr>
          <p:cNvSpPr txBox="1"/>
          <p:nvPr/>
        </p:nvSpPr>
        <p:spPr>
          <a:xfrm>
            <a:off x="304178" y="6268819"/>
            <a:ext cx="114585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i="1" dirty="0"/>
              <a:t>(*) In 2025 Q4 Vodafone core is CISCO CORE (as in 2025 Q2) and in 2025 Q3 it was COSMOS ERICSSON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993669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86336614357648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778058275164243"/>
</p:tagLst>
</file>

<file path=ppt/theme/theme1.xml><?xml version="1.0" encoding="utf-8"?>
<a:theme xmlns:a="http://schemas.openxmlformats.org/drawingml/2006/main" name="PresentationTemplate2025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spcBef>
            <a:spcPts val="800"/>
          </a:spcBef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tabLst/>
          <a:defRPr kumimoji="0" sz="2000" b="0" i="0" u="none" strike="noStrike" kern="1000" cap="none" spc="-30" normalizeH="0" baseline="0" noProof="0" dirty="0" err="1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2.xml><?xml version="1.0" encoding="utf-8"?>
<a:theme xmlns:a="http://schemas.openxmlformats.org/drawingml/2006/main" name="1_PresentationTemplate2021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0082F0"/>
      </a:accent1>
      <a:accent2>
        <a:srgbClr val="0FC373"/>
      </a:accent2>
      <a:accent3>
        <a:srgbClr val="AF78D2"/>
      </a:accent3>
      <a:accent4>
        <a:srgbClr val="FAD22D"/>
      </a:accent4>
      <a:accent5>
        <a:srgbClr val="FF8C0A"/>
      </a:accent5>
      <a:accent6>
        <a:srgbClr val="FF3232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<a:prstTxWarp prst="textNoShape">
          <a:avLst/>
        </a:prstTxWarp>
        <a:noAutofit/>
      </a:bodyPr>
      <a:lstStyle>
        <a:defPPr marL="180000" indent="-180000" algn="l">
          <a:spcBef>
            <a:spcPts val="800"/>
          </a:spcBef>
          <a:buFont typeface="Ericsson Hilda" panose="00000500000000000000" pitchFamily="2" charset="0"/>
          <a:buChar char="●"/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L="180000" marR="0" indent="-18000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buFont typeface="Ericsson Hilda" panose="00000500000000000000" pitchFamily="2" charset="0"/>
          <a:buChar char="●"/>
          <a:tabLst/>
          <a:defRPr kumimoji="0" sz="2000" b="0" i="0" u="none" strike="noStrike" kern="1000" cap="none" spc="-3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Ericsson Hilda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rimary Ericsson Blue 1">
      <a:srgbClr val="000082"/>
    </a:custClr>
    <a:custClr name="Primary Ericsson Blue 2">
      <a:srgbClr val="0050CA"/>
    </a:custClr>
    <a:custClr name="Primary Ericsson Blue">
      <a:srgbClr val="0082F0"/>
    </a:custClr>
    <a:custClr name="Primary Ericsson Blue 3">
      <a:srgbClr val="48A8FA"/>
    </a:custClr>
    <a:custClr name="Primary Ericsson Blue 4">
      <a:srgbClr val="85CCFF"/>
    </a:custClr>
    <a:custClr name="Secondary Ericsson Green">
      <a:srgbClr val="0FC373"/>
    </a:custClr>
    <a:custClr name="Secondary Ericsson Purple">
      <a:srgbClr val="AF78D2"/>
    </a:custClr>
    <a:custClr name="Secondary Ericsson Yellow">
      <a:srgbClr val="FAD22D"/>
    </a:custClr>
    <a:custClr name="Secondary Ericsson Orange">
      <a:srgbClr val="FF8C0A"/>
    </a:custClr>
    <a:custClr name="Secondary Ericsson Red">
      <a:srgbClr val="FF3232"/>
    </a:custClr>
    <a:custClr name="Secondary Ericsson Black">
      <a:srgbClr val="000000"/>
    </a:custClr>
    <a:custClr name="Secondary Ericsson Gray 1">
      <a:srgbClr val="242424"/>
    </a:custClr>
    <a:custClr name="Secondary Ericsson Gray 2">
      <a:srgbClr val="767676"/>
    </a:custClr>
    <a:custClr name="Secondary Ericsson Gray 3">
      <a:srgbClr val="A0A0A0"/>
    </a:custClr>
    <a:custClr name="Secondary Ericsson Gray 4">
      <a:srgbClr val="E0E0E0"/>
    </a:custClr>
    <a:custClr name="Secondary Ericsson Gray 5">
      <a:srgbClr val="F2F2F2"/>
    </a:custClr>
    <a:custClr name="Secondary Ericsson 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6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ef248d-09fe-4034-af42-7800fb0b4c07" xsi:nil="true"/>
    <lcf76f155ced4ddcb4097134ff3c332f xmlns="77fde15d-2397-485e-b73a-86b486d76ed9">
      <Terms xmlns="http://schemas.microsoft.com/office/infopath/2007/PartnerControls"/>
    </lcf76f155ced4ddcb4097134ff3c332f>
    <_Flow_SignoffStatus xmlns="77fde15d-2397-485e-b73a-86b486d76ed9" xsi:nil="true"/>
  </documentManagement>
</p:properties>
</file>

<file path=customXml/item18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9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20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3E8D57ECA48EA49A8079FF7BA4D8434" ma:contentTypeVersion="14" ma:contentTypeDescription="Crear nuevo documento." ma:contentTypeScope="" ma:versionID="63c20a81180abc05dcc77631795f2f6d">
  <xsd:schema xmlns:xsd="http://www.w3.org/2001/XMLSchema" xmlns:xs="http://www.w3.org/2001/XMLSchema" xmlns:p="http://schemas.microsoft.com/office/2006/metadata/properties" xmlns:ns2="77fde15d-2397-485e-b73a-86b486d76ed9" xmlns:ns3="bcef248d-09fe-4034-af42-7800fb0b4c07" targetNamespace="http://schemas.microsoft.com/office/2006/metadata/properties" ma:root="true" ma:fieldsID="c568fcd95f5d4d3e7cd3fb2956348a08" ns2:_="" ns3:_="">
    <xsd:import namespace="77fde15d-2397-485e-b73a-86b486d76ed9"/>
    <xsd:import namespace="bcef248d-09fe-4034-af42-7800fb0b4c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_Flow_SignoffStatu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de15d-2397-485e-b73a-86b486d76e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c3d31b72-c4b9-4223-ac69-1d9539891d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_Flow_SignoffStatus" ma:index="20" nillable="true" ma:displayName="Estado de aprobación" ma:internalName="_x0024_Resources_x003a_core_x002c_Signoff_Status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f248d-09fe-4034-af42-7800fb0b4c0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248a8f7-3163-4cda-ba50-6dab87801a0e}" ma:internalName="TaxCatchAll" ma:showField="CatchAllData" ma:web="bcef248d-09fe-4034-af42-7800fb0b4c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1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6AE2E849-5528-4C05-B1E8-DB80DA8BD7F1}">
  <ds:schemaRefs/>
</ds:datastoreItem>
</file>

<file path=customXml/itemProps2.xml><?xml version="1.0" encoding="utf-8"?>
<ds:datastoreItem xmlns:ds="http://schemas.openxmlformats.org/officeDocument/2006/customXml" ds:itemID="{BA1C3E13-54CF-4EC8-BFFC-847950BB2BA6}">
  <ds:schemaRefs/>
</ds:datastoreItem>
</file>

<file path=customXml/itemProps3.xml><?xml version="1.0" encoding="utf-8"?>
<ds:datastoreItem xmlns:ds="http://schemas.openxmlformats.org/officeDocument/2006/customXml" ds:itemID="{BCC44073-508E-4BAD-AC76-AFAF4E5A3726}">
  <ds:schemaRefs/>
</ds:datastoreItem>
</file>

<file path=customXml/itemProps4.xml><?xml version="1.0" encoding="utf-8"?>
<ds:datastoreItem xmlns:ds="http://schemas.openxmlformats.org/officeDocument/2006/customXml" ds:itemID="{4F6381B7-CB4D-4A8E-AE8C-AD066D7465AA}">
  <ds:schemaRefs/>
</ds:datastoreItem>
</file>

<file path=customXml/itemProps5.xml><?xml version="1.0" encoding="utf-8"?>
<ds:datastoreItem xmlns:ds="http://schemas.openxmlformats.org/officeDocument/2006/customXml" ds:itemID="{D81E0773-B1DF-4187-B86B-A4CC89F4FFA3}">
  <ds:schemaRefs/>
</ds:datastoreItem>
</file>

<file path=customXml/itemProps6.xml><?xml version="1.0" encoding="utf-8"?>
<ds:datastoreItem xmlns:ds="http://schemas.openxmlformats.org/officeDocument/2006/customXml" ds:itemID="{7FC3D2F9-C978-4F6C-9B95-BEE6303453CA}">
  <ds:schemaRefs/>
</ds:datastoreItem>
</file>

<file path=customXml/itemProps7.xml><?xml version="1.0" encoding="utf-8"?>
<ds:datastoreItem xmlns:ds="http://schemas.openxmlformats.org/officeDocument/2006/customXml" ds:itemID="{0B924887-3FAA-4B8E-815F-481860E4E6AF}">
  <ds:schemaRefs/>
</ds:datastoreItem>
</file>

<file path=customXml/itemProps8.xml><?xml version="1.0" encoding="utf-8"?>
<ds:datastoreItem xmlns:ds="http://schemas.openxmlformats.org/officeDocument/2006/customXml" ds:itemID="{772ABA4E-1FA2-4FC1-9A8A-C2C33BEC7DBE}">
  <ds:schemaRefs/>
</ds:datastoreItem>
</file>

<file path=customXml/itemProps9.xml><?xml version="1.0" encoding="utf-8"?>
<ds:datastoreItem xmlns:ds="http://schemas.openxmlformats.org/officeDocument/2006/customXml" ds:itemID="{2A25ECD3-EA6C-4727-8DF2-5BDC9911D24C}">
  <ds:schemaRefs/>
</ds:datastoreItem>
</file>

<file path=customXml/itemProps10.xml><?xml version="1.0" encoding="utf-8"?>
<ds:datastoreItem xmlns:ds="http://schemas.openxmlformats.org/officeDocument/2006/customXml" ds:itemID="{852C017A-4C71-4057-8850-0D69BC43C2C6}">
  <ds:schemaRefs>
    <ds:schemaRef ds:uri="http://schemas.microsoft.com/sharepoint/v3/contenttype/forms"/>
  </ds:schemaRefs>
</ds:datastoreItem>
</file>

<file path=customXml/itemProps11.xml><?xml version="1.0" encoding="utf-8"?>
<ds:datastoreItem xmlns:ds="http://schemas.openxmlformats.org/officeDocument/2006/customXml" ds:itemID="{869BA327-EF28-4B9C-BE53-22640E14D196}">
  <ds:schemaRefs/>
</ds:datastoreItem>
</file>

<file path=customXml/itemProps12.xml><?xml version="1.0" encoding="utf-8"?>
<ds:datastoreItem xmlns:ds="http://schemas.openxmlformats.org/officeDocument/2006/customXml" ds:itemID="{62D5B54B-6902-4F98-B23A-0118DB9EEDF4}">
  <ds:schemaRefs/>
</ds:datastoreItem>
</file>

<file path=customXml/itemProps13.xml><?xml version="1.0" encoding="utf-8"?>
<ds:datastoreItem xmlns:ds="http://schemas.openxmlformats.org/officeDocument/2006/customXml" ds:itemID="{3E86842F-01DA-4AAB-AA56-9F0B2F496397}">
  <ds:schemaRefs/>
</ds:datastoreItem>
</file>

<file path=customXml/itemProps14.xml><?xml version="1.0" encoding="utf-8"?>
<ds:datastoreItem xmlns:ds="http://schemas.openxmlformats.org/officeDocument/2006/customXml" ds:itemID="{F1A1DCA2-547F-4B90-BE36-91B9AB619C93}">
  <ds:schemaRefs/>
</ds:datastoreItem>
</file>

<file path=customXml/itemProps15.xml><?xml version="1.0" encoding="utf-8"?>
<ds:datastoreItem xmlns:ds="http://schemas.openxmlformats.org/officeDocument/2006/customXml" ds:itemID="{ADCE6D4E-881A-4F21-8F46-6A112A7EEBE1}">
  <ds:schemaRefs/>
</ds:datastoreItem>
</file>

<file path=customXml/itemProps16.xml><?xml version="1.0" encoding="utf-8"?>
<ds:datastoreItem xmlns:ds="http://schemas.openxmlformats.org/officeDocument/2006/customXml" ds:itemID="{2E5DC17B-7CA5-47FA-BB10-51D0544A8F91}">
  <ds:schemaRefs/>
</ds:datastoreItem>
</file>

<file path=customXml/itemProps17.xml><?xml version="1.0" encoding="utf-8"?>
<ds:datastoreItem xmlns:ds="http://schemas.openxmlformats.org/officeDocument/2006/customXml" ds:itemID="{11300D8C-1DE0-4C9A-86BB-17269E5D3C65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bcef248d-09fe-4034-af42-7800fb0b4c07"/>
    <ds:schemaRef ds:uri="http://schemas.openxmlformats.org/package/2006/metadata/core-properties"/>
    <ds:schemaRef ds:uri="77fde15d-2397-485e-b73a-86b486d76ed9"/>
    <ds:schemaRef ds:uri="http://schemas.microsoft.com/office/2006/metadata/properties"/>
  </ds:schemaRefs>
</ds:datastoreItem>
</file>

<file path=customXml/itemProps18.xml><?xml version="1.0" encoding="utf-8"?>
<ds:datastoreItem xmlns:ds="http://schemas.openxmlformats.org/officeDocument/2006/customXml" ds:itemID="{D6A0B861-D97F-43C8-B3DF-13EB4CD7C21A}">
  <ds:schemaRefs/>
</ds:datastoreItem>
</file>

<file path=customXml/itemProps19.xml><?xml version="1.0" encoding="utf-8"?>
<ds:datastoreItem xmlns:ds="http://schemas.openxmlformats.org/officeDocument/2006/customXml" ds:itemID="{F6CC31F5-13F1-4893-A918-27994DEE1E73}">
  <ds:schemaRefs/>
</ds:datastoreItem>
</file>

<file path=customXml/itemProps20.xml><?xml version="1.0" encoding="utf-8"?>
<ds:datastoreItem xmlns:ds="http://schemas.openxmlformats.org/officeDocument/2006/customXml" ds:itemID="{7DEDA2BC-8275-4FBB-A28A-68D801E06E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fde15d-2397-485e-b73a-86b486d76ed9"/>
    <ds:schemaRef ds:uri="bcef248d-09fe-4034-af42-7800fb0b4c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1.xml><?xml version="1.0" encoding="utf-8"?>
<ds:datastoreItem xmlns:ds="http://schemas.openxmlformats.org/officeDocument/2006/customXml" ds:itemID="{A87FB1B0-D223-4CF6-8EC4-E3E816F1CDBE}">
  <ds:schemaRefs/>
</ds:datastoreItem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2369</Words>
  <Application>Microsoft Macintosh PowerPoint</Application>
  <PresentationFormat>Panorámica</PresentationFormat>
  <Paragraphs>637</Paragraphs>
  <Slides>22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32" baseType="lpstr">
      <vt:lpstr>Aptos</vt:lpstr>
      <vt:lpstr>Aptos Narrow</vt:lpstr>
      <vt:lpstr>Ericsson Hilda</vt:lpstr>
      <vt:lpstr>Ericsson Hilda ExtraBold</vt:lpstr>
      <vt:lpstr>Ericsson Hilda ExtraLight</vt:lpstr>
      <vt:lpstr>Ericsson Hilda Light</vt:lpstr>
      <vt:lpstr>Ericsson Technical Icons</vt:lpstr>
      <vt:lpstr>Wingdings</vt:lpstr>
      <vt:lpstr>PresentationTemplate2025</vt:lpstr>
      <vt:lpstr>1_PresentationTemplate2021</vt:lpstr>
      <vt:lpstr>Presentación de PowerPoint</vt:lpstr>
      <vt:lpstr>Executive Summary</vt:lpstr>
      <vt:lpstr>Netcheck Q4 scoring “Best network”. Drive city</vt:lpstr>
      <vt:lpstr>Score breakdown</vt:lpstr>
      <vt:lpstr>KPIs prioritization: gap Vodafone vs EE</vt:lpstr>
      <vt:lpstr>KPIs prioritization: gap Three vs EE</vt:lpstr>
      <vt:lpstr>7 cities analysis  Belfast, Bristol, Cardiff, Edinburgh, London, Leeds and Sheffield </vt:lpstr>
      <vt:lpstr>Completed Call Ratio</vt:lpstr>
      <vt:lpstr>Voice failures per Q/city </vt:lpstr>
      <vt:lpstr>Data failure</vt:lpstr>
      <vt:lpstr>Data failures - FDFS test </vt:lpstr>
      <vt:lpstr>POLQA AVG MOS (Multirab&amp;volte) </vt:lpstr>
      <vt:lpstr>POLQA AVG MOS (WhatsApp) </vt:lpstr>
      <vt:lpstr>POLQA &lt;1.6</vt:lpstr>
      <vt:lpstr>CST </vt:lpstr>
      <vt:lpstr>FDTT DL (7s)</vt:lpstr>
      <vt:lpstr>FDTT UL (7s)</vt:lpstr>
      <vt:lpstr>FDFS DL</vt:lpstr>
      <vt:lpstr>FDFS UL</vt:lpstr>
      <vt:lpstr>Interactivity</vt:lpstr>
      <vt:lpstr>Browsing 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 Rey Fernandez</dc:creator>
  <cp:lastModifiedBy>Jaime Tur</cp:lastModifiedBy>
  <cp:revision>5</cp:revision>
  <dcterms:created xsi:type="dcterms:W3CDTF">2026-01-12T11:19:33Z</dcterms:created>
  <dcterms:modified xsi:type="dcterms:W3CDTF">2026-08-26T16:15:23Z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0x01010093E8D57ECA48EA49A8079FF7BA4D8434</vt:lpwstr>
  </property>
  <property fmtid="{D5CDD505-2E9C-101B-9397-08002B2CF9AE}" pid="3" name="MediaServiceImageTags">
    <vt:lpwstr/>
  </property>
</Properties>
</file>
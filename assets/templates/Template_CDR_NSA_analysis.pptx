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44"/>
  </p:notesMasterIdLst>
  <p:sldIdLst>
    <p:sldId id="2147477829" r:id="rId22"/>
    <p:sldId id="2147480012" r:id="rId23"/>
    <p:sldId id="2147480011" r:id="rId24"/>
    <p:sldId id="2147479834" r:id="rId25"/>
    <p:sldId id="2147479835" r:id="rId26"/>
    <p:sldId id="2147479836" r:id="rId27"/>
    <p:sldId id="2147479852" r:id="rId28"/>
    <p:sldId id="2147480017" r:id="rId29"/>
    <p:sldId id="2147480020" r:id="rId30"/>
    <p:sldId id="2147479858" r:id="rId31"/>
    <p:sldId id="2147480018" r:id="rId32"/>
    <p:sldId id="2147480019" r:id="rId33"/>
    <p:sldId id="2147480009" r:id="rId34"/>
    <p:sldId id="2147479707" r:id="rId35"/>
    <p:sldId id="2147479705" r:id="rId36"/>
    <p:sldId id="2147479703" r:id="rId37"/>
    <p:sldId id="2147479698" r:id="rId38"/>
    <p:sldId id="2147479712" r:id="rId39"/>
    <p:sldId id="2147479713" r:id="rId40"/>
    <p:sldId id="2147479854" r:id="rId41"/>
    <p:sldId id="2147479855" r:id="rId42"/>
    <p:sldId id="214748001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89"/>
    <p:restoredTop sz="94677"/>
  </p:normalViewPr>
  <p:slideViewPr>
    <p:cSldViewPr snapToGrid="0">
      <p:cViewPr varScale="1">
        <p:scale>
          <a:sx n="210" d="100"/>
          <a:sy n="210" d="100"/>
        </p:scale>
        <p:origin x="6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slide" Target="slides/slide5.xml"/><Relationship Id="rId39" Type="http://schemas.openxmlformats.org/officeDocument/2006/relationships/slide" Target="slides/slide18.xml"/><Relationship Id="rId21" Type="http://schemas.openxmlformats.org/officeDocument/2006/relationships/slideMaster" Target="slideMasters/slideMaster2.xml"/><Relationship Id="rId34" Type="http://schemas.openxmlformats.org/officeDocument/2006/relationships/slide" Target="slides/slide13.xml"/><Relationship Id="rId42" Type="http://schemas.openxmlformats.org/officeDocument/2006/relationships/slide" Target="slides/slide21.xml"/><Relationship Id="rId47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slide" Target="slides/slide8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31" Type="http://schemas.openxmlformats.org/officeDocument/2006/relationships/slide" Target="slides/slide10.xml"/><Relationship Id="rId44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viewProps" Target="viewProps.xml"/><Relationship Id="rId20" Type="http://schemas.openxmlformats.org/officeDocument/2006/relationships/slideMaster" Target="slideMasters/slideMaster1.xml"/><Relationship Id="rId41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Angelo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49BC75-2359-4F98-918A-7033C92AD487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243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48CCD-F068-B69C-AEEE-F49ADCCD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4BEFB-40E1-897E-8C48-839496519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EB865-F19D-FC74-9FF1-9B3E606F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EA5571-D165-F53F-1D34-96ED4F4C55F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46EDF-E4C2-0231-7FC0-CFBD1383AE3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9BE2C-0869-32BC-B262-55DD753C58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5A606-1B3B-B15B-C868-4ECE04AF6A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19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8CEB5-1B9C-16C4-B7D1-D4754D0C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775B0-5401-B7DA-5A20-BF5F9F09C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12BB5-1E75-474B-D268-71043752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7E2E5A7-A729-73EC-1A95-74BC070C594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5C9AB-DF57-2FFE-ACC0-1456D8668EF7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14B2D-06BD-4E36-22DF-7EEC67909A7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BE301-E847-4264-9EE5-E1FC430B8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540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1.emf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56.xml"/><Relationship Id="rId19" Type="http://schemas.openxmlformats.org/officeDocument/2006/relationships/image" Target="../media/image3.svg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5" Type="http://schemas.openxmlformats.org/officeDocument/2006/relationships/image" Target="../media/image1.emf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5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0.xml"/><Relationship Id="rId1" Type="http://schemas.openxmlformats.org/officeDocument/2006/relationships/customXml" Target="../../customXml/item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9.xml"/><Relationship Id="rId1" Type="http://schemas.openxmlformats.org/officeDocument/2006/relationships/customXml" Target="../../customXml/item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.xml"/><Relationship Id="rId5" Type="http://schemas.openxmlformats.org/officeDocument/2006/relationships/image" Target="../media/image2.emf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9.xml"/><Relationship Id="rId1" Type="http://schemas.openxmlformats.org/officeDocument/2006/relationships/customXml" Target="../../customXml/item16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882B6-9C77-E884-C357-DCEDE7E6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9A7B065-916C-E885-2753-F188CDE38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70" y="1"/>
            <a:ext cx="12184260" cy="6857998"/>
          </a:xfrm>
          <a:prstGeom prst="rect">
            <a:avLst/>
          </a:prstGeom>
        </p:spPr>
      </p:pic>
      <p:sp>
        <p:nvSpPr>
          <p:cNvPr id="4" name="Title 7">
            <a:extLst>
              <a:ext uri="{FF2B5EF4-FFF2-40B4-BE49-F238E27FC236}">
                <a16:creationId xmlns:a16="http://schemas.microsoft.com/office/drawing/2014/main" id="{E79E048F-6B1A-A8F0-86E1-0DE6FBE07011}"/>
              </a:ext>
            </a:extLst>
          </p:cNvPr>
          <p:cNvSpPr txBox="1">
            <a:spLocks/>
          </p:cNvSpPr>
          <p:nvPr/>
        </p:nvSpPr>
        <p:spPr>
          <a:xfrm>
            <a:off x="479425" y="476250"/>
            <a:ext cx="8353426" cy="345757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defRPr sz="4000" kern="1400" spc="-16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400" cap="none" spc="-16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 Light"/>
                <a:ea typeface="+mj-ea"/>
                <a:cs typeface="+mj-cs"/>
              </a:rPr>
              <a:t>2025 Q4 Net check UK</a:t>
            </a:r>
          </a:p>
          <a:p>
            <a:pPr lvl="0">
              <a:defRPr/>
            </a:pPr>
            <a:r>
              <a:rPr lang="en-US" sz="6600" dirty="0">
                <a:solidFill>
                  <a:srgbClr val="181818"/>
                </a:solidFill>
                <a:latin typeface="Ericsson Hilda Light"/>
              </a:rPr>
              <a:t>NSA CDR analysis </a:t>
            </a: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r>
              <a:rPr lang="en-US" sz="4400" dirty="0">
                <a:solidFill>
                  <a:schemeClr val="bg2"/>
                </a:solidFill>
              </a:rPr>
              <a:t>Belfast, Bristol, Cardiff, Edinburgh, London, Leeds and Sheffield</a:t>
            </a:r>
            <a:endParaRPr kumimoji="0" lang="en-US" sz="6600" b="0" i="0" u="none" strike="noStrike" kern="1400" cap="none" spc="-16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Ericsson Hilda Light"/>
              <a:ea typeface="+mj-ea"/>
              <a:cs typeface="+mj-cs"/>
            </a:endParaRP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CB54D4F-E30C-E00B-CFB2-9426ED9D93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7452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CEFA-4BAE-3C86-F857-D6FF88FE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8CAD87-C7E0-56E7-74C8-385CD67E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Executive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75C15-6C50-4090-83E2-90AE9C0E5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190280"/>
              </p:ext>
            </p:extLst>
          </p:nvPr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2B9695F-3483-5CC7-F351-C8C341E582C2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9304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4D93-5840-342A-4402-165E6E92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4BBD865-6FF6-F3EC-BF4E-F85CF5FE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Netcheck</a:t>
            </a:r>
            <a:r>
              <a:rPr lang="en-US"/>
              <a:t> Q4 scoring “Best network”. Drive city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47A7D83-2E0B-9109-0F75-24A40DA158C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453377" y="1580516"/>
            <a:ext cx="4327934" cy="3807142"/>
          </a:xfrm>
        </p:spPr>
        <p:txBody>
          <a:bodyPr/>
          <a:lstStyle/>
          <a:p>
            <a:r>
              <a:rPr lang="en-US"/>
              <a:t>Cities considered: </a:t>
            </a:r>
            <a:r>
              <a:rPr lang="en-US" b="1"/>
              <a:t>Belfast, Bristol, Cardiff, Edinburgh, London, Leeds and Sheffield.</a:t>
            </a:r>
          </a:p>
          <a:p>
            <a:r>
              <a:rPr lang="en-US"/>
              <a:t>The ranking points are scaled to a maximum of 1.000 points, providing comparability with the overall Ranking</a:t>
            </a: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None/>
            </a:pPr>
            <a:endParaRPr lang="en-US">
              <a:sym typeface="Wingdings" panose="05000000000000000000" pitchFamily="2" charset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05F540-3ACB-69F5-2ABD-D94570165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210" y="3585121"/>
            <a:ext cx="3723755" cy="26430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E60BD4-89B0-E524-8F6C-ADBA6669F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689" y="1557338"/>
            <a:ext cx="6874168" cy="4092651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05053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62BD-8BF1-A699-C5E0-E5FF2BBD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3E9968-E7DA-8AE4-3F19-1A374795E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Score breakdown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A3E9F2-2871-6837-FCE8-D80E941FA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940059"/>
              </p:ext>
            </p:extLst>
          </p:nvPr>
        </p:nvGraphicFramePr>
        <p:xfrm>
          <a:off x="568960" y="1198917"/>
          <a:ext cx="10232615" cy="4943251"/>
        </p:xfrm>
        <a:graphic>
          <a:graphicData uri="http://schemas.openxmlformats.org/drawingml/2006/table">
            <a:tbl>
              <a:tblPr firstCol="1"/>
              <a:tblGrid>
                <a:gridCol w="1212922">
                  <a:extLst>
                    <a:ext uri="{9D8B030D-6E8A-4147-A177-3AD203B41FA5}">
                      <a16:colId xmlns:a16="http://schemas.microsoft.com/office/drawing/2014/main" val="3113121742"/>
                    </a:ext>
                  </a:extLst>
                </a:gridCol>
                <a:gridCol w="2559646">
                  <a:extLst>
                    <a:ext uri="{9D8B030D-6E8A-4147-A177-3AD203B41FA5}">
                      <a16:colId xmlns:a16="http://schemas.microsoft.com/office/drawing/2014/main" val="1625475787"/>
                    </a:ext>
                  </a:extLst>
                </a:gridCol>
                <a:gridCol w="668347">
                  <a:extLst>
                    <a:ext uri="{9D8B030D-6E8A-4147-A177-3AD203B41FA5}">
                      <a16:colId xmlns:a16="http://schemas.microsoft.com/office/drawing/2014/main" val="1535087981"/>
                    </a:ext>
                  </a:extLst>
                </a:gridCol>
                <a:gridCol w="804570">
                  <a:extLst>
                    <a:ext uri="{9D8B030D-6E8A-4147-A177-3AD203B41FA5}">
                      <a16:colId xmlns:a16="http://schemas.microsoft.com/office/drawing/2014/main" val="2551595483"/>
                    </a:ext>
                  </a:extLst>
                </a:gridCol>
                <a:gridCol w="845739">
                  <a:extLst>
                    <a:ext uri="{9D8B030D-6E8A-4147-A177-3AD203B41FA5}">
                      <a16:colId xmlns:a16="http://schemas.microsoft.com/office/drawing/2014/main" val="159420778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2271915179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5381221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18747723"/>
                    </a:ext>
                  </a:extLst>
                </a:gridCol>
                <a:gridCol w="1063187">
                  <a:extLst>
                    <a:ext uri="{9D8B030D-6E8A-4147-A177-3AD203B41FA5}">
                      <a16:colId xmlns:a16="http://schemas.microsoft.com/office/drawing/2014/main" val="1763277425"/>
                    </a:ext>
                  </a:extLst>
                </a:gridCol>
                <a:gridCol w="968607">
                  <a:extLst>
                    <a:ext uri="{9D8B030D-6E8A-4147-A177-3AD203B41FA5}">
                      <a16:colId xmlns:a16="http://schemas.microsoft.com/office/drawing/2014/main" val="3798419767"/>
                    </a:ext>
                  </a:extLst>
                </a:gridCol>
              </a:tblGrid>
              <a:tr h="13726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NETCHECK KPIS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Score weight (%)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Max score over 1000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Vodafone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kern="120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O2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Three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Vodafone vs 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Three vs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59758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14.28%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142.80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133.33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98907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07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&gt; 15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5163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10633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8734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22.02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73645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99185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45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806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9.30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43880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 DATA TRANSFER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13.27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41451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50188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6596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3198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4278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74843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50288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31.52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35.38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0006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78170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811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34397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6042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52010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582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486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TIME TO 1MB [</a:t>
                      </a:r>
                      <a:r>
                        <a:rPr lang="en-US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ms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0339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02682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8.32%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83.20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4398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TTFP &gt;= 10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4841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IRRITATING EXPERIENCE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4.16%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41.34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278409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6.59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5527329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MEDIAN RTT [MS]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485007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60229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F3A1-4245-A842-327B-8DB1A9A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380641-CF34-AB65-D630-1B6F3361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Vodafone vs EE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35D3A4-BA53-6227-34A6-C4AD5B9FF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269763"/>
              </p:ext>
            </p:extLst>
          </p:nvPr>
        </p:nvGraphicFramePr>
        <p:xfrm>
          <a:off x="548394" y="1948786"/>
          <a:ext cx="6954260" cy="340371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666724">
                  <a:extLst>
                    <a:ext uri="{9D8B030D-6E8A-4147-A177-3AD203B41FA5}">
                      <a16:colId xmlns:a16="http://schemas.microsoft.com/office/drawing/2014/main" val="3642605734"/>
                    </a:ext>
                  </a:extLst>
                </a:gridCol>
                <a:gridCol w="3040319">
                  <a:extLst>
                    <a:ext uri="{9D8B030D-6E8A-4147-A177-3AD203B41FA5}">
                      <a16:colId xmlns:a16="http://schemas.microsoft.com/office/drawing/2014/main" val="254157762"/>
                    </a:ext>
                  </a:extLst>
                </a:gridCol>
                <a:gridCol w="1353904">
                  <a:extLst>
                    <a:ext uri="{9D8B030D-6E8A-4147-A177-3AD203B41FA5}">
                      <a16:colId xmlns:a16="http://schemas.microsoft.com/office/drawing/2014/main" val="2990189239"/>
                    </a:ext>
                  </a:extLst>
                </a:gridCol>
                <a:gridCol w="893313">
                  <a:extLst>
                    <a:ext uri="{9D8B030D-6E8A-4147-A177-3AD203B41FA5}">
                      <a16:colId xmlns:a16="http://schemas.microsoft.com/office/drawing/2014/main" val="1773962362"/>
                    </a:ext>
                  </a:extLst>
                </a:gridCol>
              </a:tblGrid>
              <a:tr h="747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Netcheck</a:t>
                      </a:r>
                      <a:r>
                        <a:rPr lang="en-US" sz="16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KPIs</a:t>
                      </a: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GAP Vodafone vs EE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Type of KPI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extLst>
                  <a:ext uri="{0D108BD9-81ED-4DB2-BD59-A6C34878D82A}">
                    <a16:rowId xmlns:a16="http://schemas.microsoft.com/office/drawing/2014/main" val="11912065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41001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4373942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8737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40423678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916961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048391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 MEDIAN RTT [MS]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746850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701890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P90 [Mbit/s]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2983627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71184441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580391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372473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7910050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SETUP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9323316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394004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6570303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3633228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4656314"/>
                  </a:ext>
                </a:extLst>
              </a:tr>
            </a:tbl>
          </a:graphicData>
        </a:graphic>
      </p:graphicFrame>
      <p:sp>
        <p:nvSpPr>
          <p:cNvPr id="5" name="Content Placeholder 10">
            <a:extLst>
              <a:ext uri="{FF2B5EF4-FFF2-40B4-BE49-F238E27FC236}">
                <a16:creationId xmlns:a16="http://schemas.microsoft.com/office/drawing/2014/main" id="{B4F34C75-980E-919A-0A59-4B0BB617A70B}"/>
              </a:ext>
            </a:extLst>
          </p:cNvPr>
          <p:cNvSpPr txBox="1">
            <a:spLocks/>
          </p:cNvSpPr>
          <p:nvPr/>
        </p:nvSpPr>
        <p:spPr>
          <a:xfrm>
            <a:off x="7715249" y="1933574"/>
            <a:ext cx="4131719" cy="3112019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>
                <a:sym typeface="Wingdings" panose="05000000000000000000" pitchFamily="2" charset="2"/>
              </a:rPr>
              <a:t>Vodafone having highest gap with EE in data success ratio in Q4, all part of reliability definition (</a:t>
            </a:r>
            <a:r>
              <a:rPr lang="en-US" b="1">
                <a:sym typeface="Wingdings" panose="05000000000000000000" pitchFamily="2" charset="2"/>
              </a:rPr>
              <a:t>almost 25 points </a:t>
            </a:r>
            <a:r>
              <a:rPr lang="en-US">
                <a:sym typeface="Wingdings" panose="05000000000000000000" pitchFamily="2" charset="2"/>
              </a:rPr>
              <a:t>gap with EE).</a:t>
            </a:r>
          </a:p>
          <a:p>
            <a:pPr marL="0" indent="0">
              <a:buNone/>
            </a:pP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02D0C-CCAA-01FC-46C7-F87948F64A2B}"/>
              </a:ext>
            </a:extLst>
          </p:cNvPr>
          <p:cNvSpPr txBox="1"/>
          <p:nvPr/>
        </p:nvSpPr>
        <p:spPr>
          <a:xfrm>
            <a:off x="9549477" y="5150073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Low-rate DL sessions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F63ED-8A4E-0E2B-101D-1D00DE27AE8F}"/>
              </a:ext>
            </a:extLst>
          </p:cNvPr>
          <p:cNvSpPr txBox="1"/>
          <p:nvPr/>
        </p:nvSpPr>
        <p:spPr>
          <a:xfrm>
            <a:off x="9508780" y="4298231"/>
            <a:ext cx="234742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E5F10-369D-733F-4A06-0D7E4251DF88}"/>
              </a:ext>
            </a:extLst>
          </p:cNvPr>
          <p:cNvSpPr txBox="1"/>
          <p:nvPr/>
        </p:nvSpPr>
        <p:spPr>
          <a:xfrm>
            <a:off x="8556447" y="3434392"/>
            <a:ext cx="2612326" cy="3385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Vodafone: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57FEE-2742-8F5F-80CB-B26BBBA0ED39}"/>
              </a:ext>
            </a:extLst>
          </p:cNvPr>
          <p:cNvSpPr txBox="1"/>
          <p:nvPr/>
        </p:nvSpPr>
        <p:spPr>
          <a:xfrm>
            <a:off x="8064334" y="3896228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Data Qualifiers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F6447-DF23-BB5B-B2B9-559BA3381D7D}"/>
              </a:ext>
            </a:extLst>
          </p:cNvPr>
          <p:cNvSpPr txBox="1"/>
          <p:nvPr/>
        </p:nvSpPr>
        <p:spPr>
          <a:xfrm>
            <a:off x="8082325" y="471011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POLQA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E6F6DB-63A6-A965-1431-D2C1936A3BFC}"/>
              </a:ext>
            </a:extLst>
          </p:cNvPr>
          <p:cNvSpPr txBox="1"/>
          <p:nvPr/>
        </p:nvSpPr>
        <p:spPr>
          <a:xfrm>
            <a:off x="8125466" y="5567703"/>
            <a:ext cx="178794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 RTT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4CCC0F-F7EF-1380-0993-6B9C31F7F401}"/>
              </a:ext>
            </a:extLst>
          </p:cNvPr>
          <p:cNvCxnSpPr>
            <a:cxnSpLocks/>
          </p:cNvCxnSpPr>
          <p:nvPr/>
        </p:nvCxnSpPr>
        <p:spPr bwMode="auto">
          <a:xfrm>
            <a:off x="404961" y="1481841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559E423-FE1B-A1D7-8A07-23751323F967}"/>
              </a:ext>
            </a:extLst>
          </p:cNvPr>
          <p:cNvSpPr txBox="1"/>
          <p:nvPr/>
        </p:nvSpPr>
        <p:spPr>
          <a:xfrm>
            <a:off x="178691" y="1481841"/>
            <a:ext cx="1011934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Priority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580A2-99A4-FF72-E295-4CFA2E86B9AB}"/>
              </a:ext>
            </a:extLst>
          </p:cNvPr>
          <p:cNvSpPr txBox="1"/>
          <p:nvPr/>
        </p:nvSpPr>
        <p:spPr>
          <a:xfrm>
            <a:off x="9657678" y="598004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Low-rate UL sessions</a:t>
            </a:r>
          </a:p>
        </p:txBody>
      </p:sp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6193EC98-3904-F84F-DC83-A686696E2691}"/>
              </a:ext>
            </a:extLst>
          </p:cNvPr>
          <p:cNvSpPr txBox="1">
            <a:spLocks/>
          </p:cNvSpPr>
          <p:nvPr/>
        </p:nvSpPr>
        <p:spPr>
          <a:xfrm>
            <a:off x="479425" y="5609268"/>
            <a:ext cx="7235824" cy="74155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dirty="0"/>
              <a:t>Cities considered: </a:t>
            </a:r>
            <a:r>
              <a:rPr lang="en-US" sz="1600" b="1" dirty="0"/>
              <a:t>Belfast, Bristol, Cardiff, Edinburgh, London, Leeds and Sheffield</a:t>
            </a:r>
            <a:r>
              <a:rPr lang="en-US" sz="1600" dirty="0"/>
              <a:t>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50788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F0209-03FA-F0F6-54CD-56682AB27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FE319C-E7C0-24DD-12A9-E2BBD5200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Three vs EE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588A020-7FA1-AF45-C69C-15CF3D2BB52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5851991"/>
            <a:ext cx="7112000" cy="741550"/>
          </a:xfrm>
        </p:spPr>
        <p:txBody>
          <a:bodyPr/>
          <a:lstStyle/>
          <a:p>
            <a:r>
              <a:rPr lang="en-US" sz="1600"/>
              <a:t>Cities considered: </a:t>
            </a:r>
            <a:r>
              <a:rPr lang="en-US" sz="1600" b="1"/>
              <a:t>Belfast, Bristol, Cardiff, Edinburgh, London, Leeds and Sheffield</a:t>
            </a:r>
            <a:r>
              <a:rPr lang="en-US" sz="1600"/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24AF3E-FE4B-0E61-0A17-A284004045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068019"/>
              </p:ext>
            </p:extLst>
          </p:nvPr>
        </p:nvGraphicFramePr>
        <p:xfrm>
          <a:off x="603849" y="1669928"/>
          <a:ext cx="6774816" cy="335050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466192">
                  <a:extLst>
                    <a:ext uri="{9D8B030D-6E8A-4147-A177-3AD203B41FA5}">
                      <a16:colId xmlns:a16="http://schemas.microsoft.com/office/drawing/2014/main" val="4208412275"/>
                    </a:ext>
                  </a:extLst>
                </a:gridCol>
                <a:gridCol w="3180044">
                  <a:extLst>
                    <a:ext uri="{9D8B030D-6E8A-4147-A177-3AD203B41FA5}">
                      <a16:colId xmlns:a16="http://schemas.microsoft.com/office/drawing/2014/main" val="1695913719"/>
                    </a:ext>
                  </a:extLst>
                </a:gridCol>
                <a:gridCol w="879739">
                  <a:extLst>
                    <a:ext uri="{9D8B030D-6E8A-4147-A177-3AD203B41FA5}">
                      <a16:colId xmlns:a16="http://schemas.microsoft.com/office/drawing/2014/main" val="1947050798"/>
                    </a:ext>
                  </a:extLst>
                </a:gridCol>
                <a:gridCol w="1248841">
                  <a:extLst>
                    <a:ext uri="{9D8B030D-6E8A-4147-A177-3AD203B41FA5}">
                      <a16:colId xmlns:a16="http://schemas.microsoft.com/office/drawing/2014/main" val="2677595599"/>
                    </a:ext>
                  </a:extLst>
                </a:gridCol>
              </a:tblGrid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  <a:latin typeface="+mn-lt"/>
                        </a:rPr>
                        <a:t>NETCHECK KPIS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GAP Three vs EE</a:t>
                      </a:r>
                      <a:endParaRPr lang="en-US" sz="12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Type of KPI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26886304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45.16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7389773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904468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12.39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710516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9175304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12573719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6.84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73620819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6.66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3148115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9397793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4.41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1742449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66371158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3.50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981046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20849038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8822962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25149501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073084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18846140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684343519"/>
                  </a:ext>
                </a:extLst>
              </a:tr>
            </a:tbl>
          </a:graphicData>
        </a:graphic>
      </p:graphicFrame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5896B9CD-9092-F644-2E98-782E55392649}"/>
              </a:ext>
            </a:extLst>
          </p:cNvPr>
          <p:cNvSpPr txBox="1">
            <a:spLocks/>
          </p:cNvSpPr>
          <p:nvPr/>
        </p:nvSpPr>
        <p:spPr>
          <a:xfrm>
            <a:off x="7649792" y="1947040"/>
            <a:ext cx="4248220" cy="4112328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800">
                <a:sym typeface="Wingdings" panose="05000000000000000000" pitchFamily="2" charset="2"/>
              </a:rPr>
              <a:t>Three with highest gap in data qualifier (FDFS DL </a:t>
            </a:r>
            <a:r>
              <a:rPr lang="en-US" sz="1800" b="1">
                <a:sym typeface="Wingdings" panose="05000000000000000000" pitchFamily="2" charset="2"/>
              </a:rPr>
              <a:t>45 points </a:t>
            </a:r>
            <a:r>
              <a:rPr lang="en-US" sz="1800">
                <a:sym typeface="Wingdings" panose="05000000000000000000" pitchFamily="2" charset="2"/>
              </a:rPr>
              <a:t>gap with EE, browsing and YouTube 11 points).</a:t>
            </a:r>
          </a:p>
          <a:p>
            <a:r>
              <a:rPr lang="en-US" sz="1800">
                <a:sym typeface="Wingdings" panose="05000000000000000000" pitchFamily="2" charset="2"/>
              </a:rPr>
              <a:t>Low DL throughput samples for FDTT DL showing a gap of </a:t>
            </a:r>
            <a:r>
              <a:rPr lang="en-US" sz="1800" b="1">
                <a:sym typeface="Wingdings" panose="05000000000000000000" pitchFamily="2" charset="2"/>
              </a:rPr>
              <a:t>30 points </a:t>
            </a:r>
            <a:r>
              <a:rPr lang="en-US" sz="1800">
                <a:sym typeface="Wingdings" panose="05000000000000000000" pitchFamily="2" charset="2"/>
              </a:rPr>
              <a:t>with EE</a:t>
            </a:r>
          </a:p>
          <a:p>
            <a:r>
              <a:rPr lang="en-US" sz="1800">
                <a:sym typeface="Wingdings" panose="05000000000000000000" pitchFamily="2" charset="2"/>
              </a:rPr>
              <a:t>Voice qualifiers showing 13 points gap.</a:t>
            </a:r>
          </a:p>
          <a:p>
            <a:endParaRPr lang="en-US" sz="1800">
              <a:sym typeface="Wingdings" panose="05000000000000000000" pitchFamily="2" charset="2"/>
            </a:endParaRPr>
          </a:p>
          <a:p>
            <a:endParaRPr lang="en-US" sz="1800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 sz="1800">
              <a:sym typeface="Wingdings" panose="05000000000000000000" pitchFamily="2" charset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223153-839D-9887-B351-F29FE86D2D56}"/>
              </a:ext>
            </a:extLst>
          </p:cNvPr>
          <p:cNvSpPr txBox="1"/>
          <p:nvPr/>
        </p:nvSpPr>
        <p:spPr>
          <a:xfrm>
            <a:off x="9647274" y="4596635"/>
            <a:ext cx="225073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Low-rate DL sessions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2BBF77-7116-540E-4E42-8CA2CC91348E}"/>
              </a:ext>
            </a:extLst>
          </p:cNvPr>
          <p:cNvSpPr txBox="1"/>
          <p:nvPr/>
        </p:nvSpPr>
        <p:spPr>
          <a:xfrm>
            <a:off x="7689715" y="5075223"/>
            <a:ext cx="203287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  <a:endParaRPr lang="en-US" sz="1600" b="1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FB717-1FE3-5715-D630-86758655E6D5}"/>
              </a:ext>
            </a:extLst>
          </p:cNvPr>
          <p:cNvSpPr txBox="1"/>
          <p:nvPr/>
        </p:nvSpPr>
        <p:spPr>
          <a:xfrm>
            <a:off x="8718660" y="4156289"/>
            <a:ext cx="205789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Three: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ED027-5F9E-9895-4D89-8944C5853005}"/>
              </a:ext>
            </a:extLst>
          </p:cNvPr>
          <p:cNvSpPr txBox="1"/>
          <p:nvPr/>
        </p:nvSpPr>
        <p:spPr>
          <a:xfrm>
            <a:off x="7689715" y="4589681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Data qualifiers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5241A-3516-9DA3-4A58-4052B9C6AC9F}"/>
              </a:ext>
            </a:extLst>
          </p:cNvPr>
          <p:cNvSpPr txBox="1"/>
          <p:nvPr/>
        </p:nvSpPr>
        <p:spPr>
          <a:xfrm>
            <a:off x="7469648" y="5597967"/>
            <a:ext cx="2261426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Disturbed and impaired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1998B-62A9-47E6-1243-305D48F1CD74}"/>
              </a:ext>
            </a:extLst>
          </p:cNvPr>
          <p:cNvSpPr txBox="1"/>
          <p:nvPr/>
        </p:nvSpPr>
        <p:spPr>
          <a:xfrm>
            <a:off x="9906510" y="5600908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075AEE-3E9A-8DD4-664F-AE96FA23E699}"/>
              </a:ext>
            </a:extLst>
          </p:cNvPr>
          <p:cNvSpPr txBox="1"/>
          <p:nvPr/>
        </p:nvSpPr>
        <p:spPr>
          <a:xfrm>
            <a:off x="9865141" y="5075223"/>
            <a:ext cx="203287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POLQA&lt;1.6</a:t>
            </a:r>
            <a:endParaRPr lang="en-US" sz="1600" b="1">
              <a:latin typeface="+mn-lt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EABCB2-627A-AAB1-A7DE-793DD98B9570}"/>
              </a:ext>
            </a:extLst>
          </p:cNvPr>
          <p:cNvCxnSpPr>
            <a:cxnSpLocks/>
          </p:cNvCxnSpPr>
          <p:nvPr/>
        </p:nvCxnSpPr>
        <p:spPr bwMode="auto">
          <a:xfrm>
            <a:off x="440843" y="1586389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F219DF9-D34B-3E5D-50E3-07C8B2663C92}"/>
              </a:ext>
            </a:extLst>
          </p:cNvPr>
          <p:cNvSpPr txBox="1"/>
          <p:nvPr/>
        </p:nvSpPr>
        <p:spPr>
          <a:xfrm>
            <a:off x="50393" y="1249561"/>
            <a:ext cx="858064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400" b="1">
                <a:latin typeface="+mn-lt"/>
              </a:rPr>
              <a:t>Priority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29128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69E7-B9B4-BCEB-8F49-99C4BA58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D772A2B2-CE8A-6AA3-3002-7EDAFFDFF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4C16A9A5-3AEA-2B2E-42E7-EEB1BD56C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6179F2E6-08A1-E2D1-58E6-568E0C3D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/>
          <a:lstStyle/>
          <a:p>
            <a:r>
              <a:rPr lang="en-US" sz="4800" dirty="0"/>
              <a:t>7 cities analysis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Belfast, Bristol, Cardiff, Edinburgh, London, Leeds and Sheffield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0AD13F97-5FB6-AA11-8C2D-92F6C0038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2352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AA37-9CC1-7123-A290-9A2885875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A0CA-3C0E-AB0A-1D23-744AF17C2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Call Ratio</a:t>
            </a:r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F7E07F0C-C6BA-A9AD-DCDA-06B2FBC3020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DC7F9D-5C95-6ADB-5163-DB77C2C6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33445"/>
            <a:ext cx="11406386" cy="372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83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3F1CE-1149-F25A-A9BD-7FC66640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F9C6-61D3-CB04-30DE-1D969263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failures per Q/city </a:t>
            </a:r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298500F8-6DA0-F5CE-3506-A1E9A682FF8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46E04E96-A276-706D-D283-59CF747A0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316849"/>
            <a:ext cx="11406386" cy="3491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38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1418A-0D3A-4D61-8BE0-93844D222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1E78-B5F9-A110-7E7F-08C3B1E95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failure</a:t>
            </a:r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A7C1470F-4B7E-FAA3-3114-566ADD73D89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531559" y="1278611"/>
            <a:ext cx="2354251" cy="5485528"/>
          </a:xfrm>
        </p:spPr>
        <p:txBody>
          <a:bodyPr/>
          <a:lstStyle/>
          <a:p>
            <a:endParaRPr lang="es-ES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FF226393-1786-B50D-323A-65FD81F5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0" y="1278611"/>
            <a:ext cx="8734345" cy="548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893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E1988-8DBC-AC06-35C9-52561D923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E25B-CB9A-3F95-EE1F-1D9E21B0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failures - FDFS test </a:t>
            </a:r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2E430CB7-DB2A-E943-470C-4A1CEE2A8CC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78700EFD-F937-8062-2090-C42E6270F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78610"/>
            <a:ext cx="11406385" cy="372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87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37EF-43CB-FD28-2CAF-E4CA76645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C35DB-97B1-33D8-138C-0604AD8ED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</a:t>
            </a:r>
            <a:r>
              <a:rPr lang="en-US" err="1"/>
              <a:t>Multirab&amp;volte</a:t>
            </a:r>
            <a:r>
              <a:rPr lang="en-US"/>
              <a:t>)</a:t>
            </a:r>
            <a:br>
              <a:rPr lang="en-US"/>
            </a:b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95C03D-456E-6BFA-587D-5208B70B4B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09"/>
          <a:stretch>
            <a:fillRect/>
          </a:stretch>
        </p:blipFill>
        <p:spPr>
          <a:xfrm>
            <a:off x="479425" y="1254562"/>
            <a:ext cx="11406386" cy="3662609"/>
          </a:xfrm>
          <a:prstGeom prst="rect">
            <a:avLst/>
          </a:prstGeom>
        </p:spPr>
      </p:pic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2C10FF7A-4C4A-E67F-E1F4-9553463867D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7070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3328A-697D-0F6C-2F5D-AC27BC433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349ED66-6D9F-7B0F-5AD0-7A8DDF418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466850"/>
            <a:ext cx="8524876" cy="3409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ADCAC0-FFEE-E3EE-E424-823A3FCEA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(WhatsApp)</a:t>
            </a:r>
            <a:br>
              <a:rPr lang="en-US"/>
            </a:br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770F48-0D0A-1E69-7931-E2910B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425" y="3057955"/>
            <a:ext cx="3449512" cy="18941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7979B9C-F9B0-B68B-281A-4E76C8092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981" y="2176249"/>
            <a:ext cx="715618" cy="697031"/>
          </a:xfrm>
          <a:prstGeom prst="rect">
            <a:avLst/>
          </a:prstGeom>
        </p:spPr>
      </p:pic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7D45C496-7890-4F4E-5F1E-A8FE8EF14C9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48999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8D0F7-1C70-1489-600B-E3A8D7262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8B4304E-468A-6D80-A5EC-7E8540B236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23"/>
          <a:stretch>
            <a:fillRect/>
          </a:stretch>
        </p:blipFill>
        <p:spPr>
          <a:xfrm>
            <a:off x="5779890" y="1343504"/>
            <a:ext cx="6105921" cy="35797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045BBB-16E2-65EC-3EF2-1D833FF6E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&lt;1.6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863193-32BD-8819-FD75-C6AA8E24E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24" y="1343504"/>
            <a:ext cx="5300465" cy="3579720"/>
          </a:xfrm>
          <a:prstGeom prst="rect">
            <a:avLst/>
          </a:prstGeom>
        </p:spPr>
      </p:pic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F2714BBF-DEBE-C1EB-6B57-7FD7E3B3E0E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9295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9437E-5595-8CC9-B760-57663CCC0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EB5E6-9079-1720-9B5B-1E3E838D4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CST</a:t>
            </a:r>
            <a:br>
              <a:rPr lang="en-US"/>
            </a:b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73656E-58DF-91EF-E66E-51B0E07D2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38060"/>
            <a:ext cx="11406386" cy="3685166"/>
          </a:xfrm>
          <a:prstGeom prst="rect">
            <a:avLst/>
          </a:prstGeom>
        </p:spPr>
      </p:pic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11C0AC06-A93C-9430-B830-393E5B19044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1244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C583-44F6-A835-BFFB-828E86F2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DF1F45-954B-C68C-0668-E5CCBFDFC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119050"/>
            <a:ext cx="11406386" cy="37678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E9041E-E0D3-16B3-0E4C-3C0AACD01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DL (7s)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EB7C74-406B-117E-B3E6-4ABAB6ADC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3204" y="2857449"/>
            <a:ext cx="870382" cy="847775"/>
          </a:xfrm>
          <a:prstGeom prst="rect">
            <a:avLst/>
          </a:prstGeom>
        </p:spPr>
      </p:pic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84B2CCF2-95D7-5F98-D936-9FCFE0080F9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3303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95C4-6E7E-4737-D849-845AC8570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7B6D70-AA14-FC9A-78F2-79C549D8E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126347"/>
            <a:ext cx="11406386" cy="38029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4503A1-DD43-6AF4-9F09-B3409DD3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UL (7s)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D07A8-3270-C30E-1A1D-006B2951C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622" y="2500580"/>
            <a:ext cx="789456" cy="768951"/>
          </a:xfrm>
          <a:prstGeom prst="rect">
            <a:avLst/>
          </a:prstGeom>
        </p:spPr>
      </p:pic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011F839A-701B-595C-2723-9BE000E0AD2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1340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9529-5F66-7304-BCC8-6E78D9ED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E7DCB5-4355-CD5E-1B8E-3135C70EE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114236"/>
            <a:ext cx="11406386" cy="39058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E3126D-7A01-E155-A532-CB49B0CC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DL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4FF89E80-E38F-89B4-23B0-E2667065404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176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0C2D-B815-F067-3E3A-A4487C508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174D16-6117-F665-3A96-AE967E745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29856"/>
            <a:ext cx="11406386" cy="36933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B2D2C-C1DA-E717-C97E-F1166CA68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UL</a:t>
            </a:r>
          </a:p>
        </p:txBody>
      </p:sp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5AAE8D69-51F2-C0FC-4285-65667FB0BD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6402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AC0F-2A8F-4529-606A-D0FB4F3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331418-455C-28AB-4414-395E775D43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927"/>
          <a:stretch>
            <a:fillRect/>
          </a:stretch>
        </p:blipFill>
        <p:spPr>
          <a:xfrm>
            <a:off x="479425" y="1278610"/>
            <a:ext cx="8604018" cy="54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6ABDCE-9BEE-F150-D102-8F2382C4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CCB7E9-19AA-9CFC-1989-E96D96DDA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997" y="1911837"/>
            <a:ext cx="730430" cy="711458"/>
          </a:xfrm>
          <a:prstGeom prst="rect">
            <a:avLst/>
          </a:prstGeom>
        </p:spPr>
      </p:pic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C5CB7D9B-2826-43F0-1EB0-CA80FEB1CB5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531559" y="1278611"/>
            <a:ext cx="2354251" cy="5485528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4778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60FA1-3130-D48D-AE85-6584EE92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ADF741-1282-39E9-18B9-EC8B9305A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26338"/>
            <a:ext cx="11406386" cy="37574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EE8C70-5FF5-E51B-B320-3BE1AE88E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Browsing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0068FD-FF5D-E36A-6C8D-A8B39119B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679" y="2095475"/>
            <a:ext cx="769646" cy="749656"/>
          </a:xfrm>
          <a:prstGeom prst="rect">
            <a:avLst/>
          </a:prstGeom>
        </p:spPr>
      </p:pic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110B2DA1-C9B4-E42F-0741-1EEE5B9F45D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129117"/>
            <a:ext cx="11406386" cy="1635021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3319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F175D-D609-4B09-CC96-047698E7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FC92183-B357-C2DE-0D13-0014FE019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Conclusions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EA75BF-1EE3-5420-2340-CA2586484C70}"/>
              </a:ext>
            </a:extLst>
          </p:cNvPr>
          <p:cNvGraphicFramePr>
            <a:graphicFrameLocks noGrp="1"/>
          </p:cNvGraphicFramePr>
          <p:nvPr/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5902FAD-7E06-3A1D-CB2A-3D5D0CBE8010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993669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86336614357648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1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2E5DC17B-7CA5-47FA-BB10-51D0544A8F91}">
  <ds:schemaRefs/>
</ds:datastoreItem>
</file>

<file path=customXml/itemProps2.xml><?xml version="1.0" encoding="utf-8"?>
<ds:datastoreItem xmlns:ds="http://schemas.openxmlformats.org/officeDocument/2006/customXml" ds:itemID="{D81E0773-B1DF-4187-B86B-A4CC89F4FFA3}">
  <ds:schemaRefs/>
</ds:datastoreItem>
</file>

<file path=customXml/itemProps3.xml><?xml version="1.0" encoding="utf-8"?>
<ds:datastoreItem xmlns:ds="http://schemas.openxmlformats.org/officeDocument/2006/customXml" ds:itemID="{ADCE6D4E-881A-4F21-8F46-6A112A7EEBE1}">
  <ds:schemaRefs/>
</ds:datastoreItem>
</file>

<file path=customXml/itemProps4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F6CC31F5-13F1-4893-A918-27994DEE1E73}">
  <ds:schemaRefs/>
</ds:datastoreItem>
</file>

<file path=customXml/itemProps6.xml><?xml version="1.0" encoding="utf-8"?>
<ds:datastoreItem xmlns:ds="http://schemas.openxmlformats.org/officeDocument/2006/customXml" ds:itemID="{4F6381B7-CB4D-4A8E-AE8C-AD066D7465AA}">
  <ds:schemaRefs/>
</ds:datastoreItem>
</file>

<file path=customXml/itemProps7.xml><?xml version="1.0" encoding="utf-8"?>
<ds:datastoreItem xmlns:ds="http://schemas.openxmlformats.org/officeDocument/2006/customXml" ds:itemID="{2A25ECD3-EA6C-4727-8DF2-5BDC9911D24C}">
  <ds:schemaRefs/>
</ds:datastoreItem>
</file>

<file path=customXml/itemProps8.xml><?xml version="1.0" encoding="utf-8"?>
<ds:datastoreItem xmlns:ds="http://schemas.openxmlformats.org/officeDocument/2006/customXml" ds:itemID="{F1A1DCA2-547F-4B90-BE36-91B9AB619C93}">
  <ds:schemaRefs/>
</ds:datastoreItem>
</file>

<file path=customXml/itemProps9.xml><?xml version="1.0" encoding="utf-8"?>
<ds:datastoreItem xmlns:ds="http://schemas.openxmlformats.org/officeDocument/2006/customXml" ds:itemID="{772ABA4E-1FA2-4FC1-9A8A-C2C33BEC7DBE}">
  <ds:schemaRefs/>
</ds:datastoreItem>
</file>

<file path=customXml/itemProps10.xml><?xml version="1.0" encoding="utf-8"?>
<ds:datastoreItem xmlns:ds="http://schemas.openxmlformats.org/officeDocument/2006/customXml" ds:itemID="{62D5B54B-6902-4F98-B23A-0118DB9EEDF4}">
  <ds:schemaRefs/>
</ds:datastoreItem>
</file>

<file path=customXml/itemProps11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12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3.xml><?xml version="1.0" encoding="utf-8"?>
<ds:datastoreItem xmlns:ds="http://schemas.openxmlformats.org/officeDocument/2006/customXml" ds:itemID="{6AE2E849-5528-4C05-B1E8-DB80DA8BD7F1}">
  <ds:schemaRefs/>
</ds:datastoreItem>
</file>

<file path=customXml/itemProps14.xml><?xml version="1.0" encoding="utf-8"?>
<ds:datastoreItem xmlns:ds="http://schemas.openxmlformats.org/officeDocument/2006/customXml" ds:itemID="{7FC3D2F9-C978-4F6C-9B95-BEE6303453CA}">
  <ds:schemaRefs/>
</ds:datastoreItem>
</file>

<file path=customXml/itemProps15.xml><?xml version="1.0" encoding="utf-8"?>
<ds:datastoreItem xmlns:ds="http://schemas.openxmlformats.org/officeDocument/2006/customXml" ds:itemID="{3E86842F-01DA-4AAB-AA56-9F0B2F496397}">
  <ds:schemaRefs/>
</ds:datastoreItem>
</file>

<file path=customXml/itemProps16.xml><?xml version="1.0" encoding="utf-8"?>
<ds:datastoreItem xmlns:ds="http://schemas.openxmlformats.org/officeDocument/2006/customXml" ds:itemID="{D6A0B861-D97F-43C8-B3DF-13EB4CD7C21A}">
  <ds:schemaRefs/>
</ds:datastoreItem>
</file>

<file path=customXml/itemProps17.xml><?xml version="1.0" encoding="utf-8"?>
<ds:datastoreItem xmlns:ds="http://schemas.openxmlformats.org/officeDocument/2006/customXml" ds:itemID="{A87FB1B0-D223-4CF6-8EC4-E3E816F1CDBE}">
  <ds:schemaRefs/>
</ds:datastoreItem>
</file>

<file path=customXml/itemProps18.xml><?xml version="1.0" encoding="utf-8"?>
<ds:datastoreItem xmlns:ds="http://schemas.openxmlformats.org/officeDocument/2006/customXml" ds:itemID="{0B924887-3FAA-4B8E-815F-481860E4E6AF}">
  <ds:schemaRefs/>
</ds:datastoreItem>
</file>

<file path=customXml/itemProps19.xml><?xml version="1.0" encoding="utf-8"?>
<ds:datastoreItem xmlns:ds="http://schemas.openxmlformats.org/officeDocument/2006/customXml" ds:itemID="{BA1C3E13-54CF-4EC8-BFFC-847950BB2BA6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1945</Words>
  <Application>Microsoft Macintosh PowerPoint</Application>
  <PresentationFormat>Panorámica</PresentationFormat>
  <Paragraphs>602</Paragraphs>
  <Slides>22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32" baseType="lpstr">
      <vt:lpstr>Aptos</vt:lpstr>
      <vt:lpstr>Aptos Narrow</vt:lpstr>
      <vt:lpstr>Ericsson Hilda</vt:lpstr>
      <vt:lpstr>Ericsson Hilda ExtraBold</vt:lpstr>
      <vt:lpstr>Ericsson Hilda ExtraLight</vt:lpstr>
      <vt:lpstr>Ericsson Hilda Light</vt:lpstr>
      <vt:lpstr>Ericsson Technical Icons</vt:lpstr>
      <vt:lpstr>Wingdings</vt:lpstr>
      <vt:lpstr>PresentationTemplate2025</vt:lpstr>
      <vt:lpstr>1_PresentationTemplate2021</vt:lpstr>
      <vt:lpstr>Presentación de PowerPoint</vt:lpstr>
      <vt:lpstr>Executive Summary</vt:lpstr>
      <vt:lpstr>Netcheck Q4 scoring “Best network”. Drive city</vt:lpstr>
      <vt:lpstr>Score breakdown</vt:lpstr>
      <vt:lpstr>KPIs prioritization: gap Vodafone vs EE</vt:lpstr>
      <vt:lpstr>KPIs prioritization: gap Three vs EE</vt:lpstr>
      <vt:lpstr>7 cities analysis  Belfast, Bristol, Cardiff, Edinburgh, London, Leeds and Sheffield </vt:lpstr>
      <vt:lpstr>Completed Call Ratio</vt:lpstr>
      <vt:lpstr>Voice failures per Q/city </vt:lpstr>
      <vt:lpstr>Data failure</vt:lpstr>
      <vt:lpstr>Data failures - FDFS test </vt:lpstr>
      <vt:lpstr>POLQA AVG MOS (Multirab&amp;volte) </vt:lpstr>
      <vt:lpstr>POLQA AVG MOS (WhatsApp) </vt:lpstr>
      <vt:lpstr>POLQA &lt;1.6</vt:lpstr>
      <vt:lpstr>CST </vt:lpstr>
      <vt:lpstr>FDTT DL (7s)</vt:lpstr>
      <vt:lpstr>FDTT UL (7s)</vt:lpstr>
      <vt:lpstr>FDFS DL</vt:lpstr>
      <vt:lpstr>FDFS UL</vt:lpstr>
      <vt:lpstr>Interactivity</vt:lpstr>
      <vt:lpstr>Browsing 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6</cp:revision>
  <dcterms:created xsi:type="dcterms:W3CDTF">2026-01-12T11:19:33Z</dcterms:created>
  <dcterms:modified xsi:type="dcterms:W3CDTF">2026-08-26T17:08:29Z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
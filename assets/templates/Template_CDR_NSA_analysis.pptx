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2"/>
    <p:sldMasterId id="2147483707" r:id="rId23"/>
  </p:sldMasterIdLst>
  <p:notesMasterIdLst>
    <p:notesMasterId r:id="rId46"/>
  </p:notesMasterIdLst>
  <p:sldIdLst>
    <p:sldId id="2147477829" r:id="rId24"/>
    <p:sldId id="2147480012" r:id="rId25"/>
    <p:sldId id="2147480011" r:id="rId26"/>
    <p:sldId id="2147479834" r:id="rId27"/>
    <p:sldId id="2147479835" r:id="rId28"/>
    <p:sldId id="2147479836" r:id="rId29"/>
    <p:sldId id="2147479852" r:id="rId30"/>
    <p:sldId id="2147479729" r:id="rId31"/>
    <p:sldId id="2147479859" r:id="rId32"/>
    <p:sldId id="2147479709" r:id="rId33"/>
    <p:sldId id="2147480001" r:id="rId34"/>
    <p:sldId id="2147479858" r:id="rId35"/>
    <p:sldId id="2147480009" r:id="rId36"/>
    <p:sldId id="2147479707" r:id="rId37"/>
    <p:sldId id="2147479705" r:id="rId38"/>
    <p:sldId id="2147479703" r:id="rId39"/>
    <p:sldId id="2147479698" r:id="rId40"/>
    <p:sldId id="2147479712" r:id="rId41"/>
    <p:sldId id="2147479713" r:id="rId42"/>
    <p:sldId id="2147479854" r:id="rId43"/>
    <p:sldId id="2147479855" r:id="rId44"/>
    <p:sldId id="2147480016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slide" Target="slides/slide3.xml"/><Relationship Id="rId39" Type="http://schemas.openxmlformats.org/officeDocument/2006/relationships/slide" Target="slides/slide16.xml"/><Relationship Id="rId21" Type="http://schemas.openxmlformats.org/officeDocument/2006/relationships/customXml" Target="../customXml/item21.xml"/><Relationship Id="rId34" Type="http://schemas.openxmlformats.org/officeDocument/2006/relationships/slide" Target="slides/slide11.xml"/><Relationship Id="rId42" Type="http://schemas.openxmlformats.org/officeDocument/2006/relationships/slide" Target="slides/slide19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9" Type="http://schemas.openxmlformats.org/officeDocument/2006/relationships/slide" Target="slides/slide6.xml"/><Relationship Id="rId11" Type="http://schemas.openxmlformats.org/officeDocument/2006/relationships/customXml" Target="../customXml/item11.xml"/><Relationship Id="rId24" Type="http://schemas.openxmlformats.org/officeDocument/2006/relationships/slide" Target="slides/slide1.xml"/><Relationship Id="rId32" Type="http://schemas.openxmlformats.org/officeDocument/2006/relationships/slide" Target="slides/slide9.xml"/><Relationship Id="rId37" Type="http://schemas.openxmlformats.org/officeDocument/2006/relationships/slide" Target="slides/slide14.xml"/><Relationship Id="rId40" Type="http://schemas.openxmlformats.org/officeDocument/2006/relationships/slide" Target="slides/slide17.xml"/><Relationship Id="rId45" Type="http://schemas.openxmlformats.org/officeDocument/2006/relationships/slide" Target="slides/slide22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Master" Target="slideMasters/slideMaster2.xml"/><Relationship Id="rId28" Type="http://schemas.openxmlformats.org/officeDocument/2006/relationships/slide" Target="slides/slide5.xml"/><Relationship Id="rId36" Type="http://schemas.openxmlformats.org/officeDocument/2006/relationships/slide" Target="slides/slide13.xml"/><Relationship Id="rId49" Type="http://schemas.openxmlformats.org/officeDocument/2006/relationships/theme" Target="theme/theme1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31" Type="http://schemas.openxmlformats.org/officeDocument/2006/relationships/slide" Target="slides/slide8.xml"/><Relationship Id="rId44" Type="http://schemas.openxmlformats.org/officeDocument/2006/relationships/slide" Target="slides/slide2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Master" Target="slideMasters/slideMaster1.xml"/><Relationship Id="rId27" Type="http://schemas.openxmlformats.org/officeDocument/2006/relationships/slide" Target="slides/slide4.xml"/><Relationship Id="rId30" Type="http://schemas.openxmlformats.org/officeDocument/2006/relationships/slide" Target="slides/slide7.xml"/><Relationship Id="rId35" Type="http://schemas.openxmlformats.org/officeDocument/2006/relationships/slide" Target="slides/slide12.xml"/><Relationship Id="rId43" Type="http://schemas.openxmlformats.org/officeDocument/2006/relationships/slide" Target="slides/slide20.xml"/><Relationship Id="rId48" Type="http://schemas.openxmlformats.org/officeDocument/2006/relationships/viewProps" Target="view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slide" Target="slides/slide2.xml"/><Relationship Id="rId33" Type="http://schemas.openxmlformats.org/officeDocument/2006/relationships/slide" Target="slides/slide10.xml"/><Relationship Id="rId38" Type="http://schemas.openxmlformats.org/officeDocument/2006/relationships/slide" Target="slides/slide15.xml"/><Relationship Id="rId46" Type="http://schemas.openxmlformats.org/officeDocument/2006/relationships/notesMaster" Target="notesMasters/notesMaster1.xml"/><Relationship Id="rId20" Type="http://schemas.openxmlformats.org/officeDocument/2006/relationships/customXml" Target="../customXml/item20.xml"/><Relationship Id="rId41" Type="http://schemas.openxmlformats.org/officeDocument/2006/relationships/slide" Target="slides/slide18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Angelo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Ericsson Hilda Light" panose="00000400000000000000" pitchFamily="2" charset="0"/>
              </a:rPr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49BC75-2359-4F98-918A-7033C92AD487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Ericsson Hilda Light" panose="00000400000000000000" pitchFamily="2" charset="0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243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48CCD-F068-B69C-AEEE-F49ADCCD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4BEFB-40E1-897E-8C48-839496519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EB865-F19D-FC74-9FF1-9B3E606F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3EA5571-D165-F53F-1D34-96ED4F4C55F2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46EDF-E4C2-0231-7FC0-CFBD1383AE3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9BE2C-0869-32BC-B262-55DD753C58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5A606-1B3B-B15B-C868-4ECE04AF6A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719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8CEB5-1B9C-16C4-B7D1-D4754D0C6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775B0-5401-B7DA-5A20-BF5F9F09C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12BB5-1E75-474B-D268-71043752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7E2E5A7-A729-73EC-1A95-74BC070C5942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5C9AB-DF57-2FFE-ACC0-1456D8668EF7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14B2D-06BD-4E36-22DF-7EEC67909A7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BE301-E847-4264-9EE5-E1FC430B8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540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‹#›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1.emf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5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63.xml"/><Relationship Id="rId2" Type="http://schemas.openxmlformats.org/officeDocument/2006/relationships/slideLayout" Target="../slideLayouts/slideLayout48.xml"/><Relationship Id="rId16" Type="http://schemas.openxmlformats.org/officeDocument/2006/relationships/slideLayout" Target="../slideLayouts/slideLayout62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56.xml"/><Relationship Id="rId19" Type="http://schemas.openxmlformats.org/officeDocument/2006/relationships/image" Target="../media/image3.svg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Relationship Id="rId5" Type="http://schemas.openxmlformats.org/officeDocument/2006/relationships/image" Target="../media/image1.emf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customXml" Target="../../customXml/item2.xml"/><Relationship Id="rId1" Type="http://schemas.openxmlformats.org/officeDocument/2006/relationships/customXml" Target="../../customXml/item1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6.xml"/><Relationship Id="rId1" Type="http://schemas.openxmlformats.org/officeDocument/2006/relationships/customXml" Target="../../customXml/item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5.xml"/><Relationship Id="rId1" Type="http://schemas.openxmlformats.org/officeDocument/2006/relationships/customXml" Target="../../customXml/item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.xml"/><Relationship Id="rId5" Type="http://schemas.openxmlformats.org/officeDocument/2006/relationships/image" Target="../media/image2.emf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12.xml"/><Relationship Id="rId1" Type="http://schemas.openxmlformats.org/officeDocument/2006/relationships/customXml" Target="../../customXml/item8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customXml" Target="../../customXml/item21.xml"/><Relationship Id="rId1" Type="http://schemas.openxmlformats.org/officeDocument/2006/relationships/customXml" Target="../../customXml/item1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882B6-9C77-E884-C357-DCEDE7E69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9A7B065-916C-E885-2753-F188CDE382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70" y="1"/>
            <a:ext cx="12184260" cy="6857998"/>
          </a:xfrm>
          <a:prstGeom prst="rect">
            <a:avLst/>
          </a:prstGeom>
        </p:spPr>
      </p:pic>
      <p:sp>
        <p:nvSpPr>
          <p:cNvPr id="4" name="Title 7">
            <a:extLst>
              <a:ext uri="{FF2B5EF4-FFF2-40B4-BE49-F238E27FC236}">
                <a16:creationId xmlns:a16="http://schemas.microsoft.com/office/drawing/2014/main" id="{E79E048F-6B1A-A8F0-86E1-0DE6FBE07011}"/>
              </a:ext>
            </a:extLst>
          </p:cNvPr>
          <p:cNvSpPr txBox="1">
            <a:spLocks/>
          </p:cNvSpPr>
          <p:nvPr/>
        </p:nvSpPr>
        <p:spPr>
          <a:xfrm>
            <a:off x="479425" y="476250"/>
            <a:ext cx="8353426" cy="3457576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ct val="85000"/>
              </a:lnSpc>
              <a:spcBef>
                <a:spcPts val="300"/>
              </a:spcBef>
              <a:spcAft>
                <a:spcPct val="0"/>
              </a:spcAft>
              <a:defRPr sz="4000" kern="1400" spc="-16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2pPr>
            <a:lvl3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3pPr>
            <a:lvl4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4pPr>
            <a:lvl5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85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400" cap="none" spc="-16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Ericsson Hilda Light"/>
                <a:ea typeface="+mj-ea"/>
                <a:cs typeface="+mj-cs"/>
              </a:rPr>
              <a:t>2025 Q4 Net check UK</a:t>
            </a:r>
          </a:p>
          <a:p>
            <a:pPr lvl="0">
              <a:defRPr/>
            </a:pPr>
            <a:r>
              <a:rPr lang="en-US" sz="6600" dirty="0">
                <a:solidFill>
                  <a:srgbClr val="181818"/>
                </a:solidFill>
                <a:latin typeface="Ericsson Hilda Light"/>
              </a:rPr>
              <a:t>NSA CDR analysis </a:t>
            </a:r>
            <a:br>
              <a:rPr lang="en-US" sz="6600" dirty="0">
                <a:solidFill>
                  <a:srgbClr val="181818"/>
                </a:solidFill>
                <a:latin typeface="Ericsson Hilda Light"/>
              </a:rPr>
            </a:br>
            <a:br>
              <a:rPr lang="en-US" sz="6600" dirty="0">
                <a:solidFill>
                  <a:srgbClr val="181818"/>
                </a:solidFill>
                <a:latin typeface="Ericsson Hilda Light"/>
              </a:rPr>
            </a:br>
            <a:r>
              <a:rPr lang="en-US" sz="4400" dirty="0">
                <a:solidFill>
                  <a:schemeClr val="bg2"/>
                </a:solidFill>
              </a:rPr>
              <a:t>Belfast, Bristol, Cardiff, Edinburgh, London, Leeds and Sheffield</a:t>
            </a:r>
            <a:endParaRPr kumimoji="0" lang="en-US" sz="6600" b="0" i="0" u="none" strike="noStrike" kern="1400" cap="none" spc="-16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Ericsson Hilda Light"/>
              <a:ea typeface="+mj-ea"/>
              <a:cs typeface="+mj-cs"/>
            </a:endParaRP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CB54D4F-E30C-E00B-CFB2-9426ED9D93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7452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2CEFA-4BAE-3C86-F857-D6FF88FE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08CAD87-C7E0-56E7-74C8-385CD67EB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521950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Executive Summary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575C15-6C50-4090-83E2-90AE9C0E5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190280"/>
              </p:ext>
            </p:extLst>
          </p:nvPr>
        </p:nvGraphicFramePr>
        <p:xfrm>
          <a:off x="222388" y="1294534"/>
          <a:ext cx="11622157" cy="4864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983">
                  <a:extLst>
                    <a:ext uri="{9D8B030D-6E8A-4147-A177-3AD203B41FA5}">
                      <a16:colId xmlns:a16="http://schemas.microsoft.com/office/drawing/2014/main" val="1231941871"/>
                    </a:ext>
                  </a:extLst>
                </a:gridCol>
                <a:gridCol w="5672759">
                  <a:extLst>
                    <a:ext uri="{9D8B030D-6E8A-4147-A177-3AD203B41FA5}">
                      <a16:colId xmlns:a16="http://schemas.microsoft.com/office/drawing/2014/main" val="819676662"/>
                    </a:ext>
                  </a:extLst>
                </a:gridCol>
                <a:gridCol w="2185780">
                  <a:extLst>
                    <a:ext uri="{9D8B030D-6E8A-4147-A177-3AD203B41FA5}">
                      <a16:colId xmlns:a16="http://schemas.microsoft.com/office/drawing/2014/main" val="3964278779"/>
                    </a:ext>
                  </a:extLst>
                </a:gridCol>
                <a:gridCol w="3107635">
                  <a:extLst>
                    <a:ext uri="{9D8B030D-6E8A-4147-A177-3AD203B41FA5}">
                      <a16:colId xmlns:a16="http://schemas.microsoft.com/office/drawing/2014/main" val="1255488726"/>
                    </a:ext>
                  </a:extLst>
                </a:gridCol>
              </a:tblGrid>
              <a:tr h="2269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Operator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Main Finding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Recommendation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Potential Scoring Impact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2863621968"/>
                  </a:ext>
                </a:extLst>
              </a:tr>
              <a:tr h="226921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VFE</a:t>
                      </a: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Higher data failure ratio in all data test, but specially in FDFS DL&amp;UL in Q4 compared to Q3. 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Data services Success Ratio ('Most reliable’) (FDFS DL&amp;UL, Browsing and Video)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4118443984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CST in Q4 compared to Q3 and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CALL SETUP TIME 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196451456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FDTT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DL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62449492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Degradation in FDFS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FDFS DL Transfer Time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926149615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Higher Interactivity RTT in Q4 compared to Q3, similar figures as in Q2 (*). London showing poorer performance in Q4 compared to Q2.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Interactivity RTT </a:t>
                      </a: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584857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3UK MOCN nodes mimics the 3UK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5274901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VFUK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271828910"/>
                  </a:ext>
                </a:extLst>
              </a:tr>
              <a:tr h="404557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Three</a:t>
                      </a: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High unqualified data sessions in FDFS DL HTTPS test (not RF related) still present in Q4 in NSA CDR. In SA CDR this problem is not present.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 E2E analysis. E2E core tracing needed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FDFS DL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524180120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Call Success ratio in Q4 in London compared to Q3 (higher number of VoLTE failures)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Detail Log analysis of failures cases 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Call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3167912453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/>
                        <a:t>Degradation observed in POLQA AVG MOS in Q4 compared to Q3 mainly in Belfast and Sheffield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POLQA Avg MOS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52388039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VFUK MOCN nodes mimics the VFUK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97528208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3UK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FDTT and FDFS DL&amp;UL Throughput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0093759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2B9695F-3483-5CC7-F351-C8C341E582C2}"/>
              </a:ext>
            </a:extLst>
          </p:cNvPr>
          <p:cNvSpPr txBox="1"/>
          <p:nvPr/>
        </p:nvSpPr>
        <p:spPr>
          <a:xfrm>
            <a:off x="304178" y="6268819"/>
            <a:ext cx="114585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i="1" dirty="0"/>
              <a:t>(*) In 2025 Q4 Vodafone core is CISCO CORE (as in 2025 Q2) and in 2025 Q3 it was COSMOS ERICSSON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293040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A4D93-5840-342A-4402-165E6E92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4BBD865-6FF6-F3EC-BF4E-F85CF5FE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Netcheck</a:t>
            </a:r>
            <a:r>
              <a:rPr lang="en-US"/>
              <a:t> Q4 scoring “Best network”. Drive city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47A7D83-2E0B-9109-0F75-24A40DA158C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453377" y="1580516"/>
            <a:ext cx="4327934" cy="3807142"/>
          </a:xfrm>
        </p:spPr>
        <p:txBody>
          <a:bodyPr/>
          <a:lstStyle/>
          <a:p>
            <a:r>
              <a:rPr lang="en-US"/>
              <a:t>Cities considered: </a:t>
            </a:r>
            <a:r>
              <a:rPr lang="en-US" b="1"/>
              <a:t>Belfast, Bristol, Cardiff, Edinburgh, London, Leeds and Sheffield.</a:t>
            </a:r>
          </a:p>
          <a:p>
            <a:r>
              <a:rPr lang="en-US"/>
              <a:t>The ranking points are scaled to a maximum of 1.000 points, providing comparability with the overall Ranking</a:t>
            </a:r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pPr marL="265113" lvl="1" indent="0">
              <a:buNone/>
            </a:pPr>
            <a:endParaRPr lang="en-US">
              <a:sym typeface="Wingdings" panose="05000000000000000000" pitchFamily="2" charset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05F540-3ACB-69F5-2ABD-D94570165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210" y="3585121"/>
            <a:ext cx="3723755" cy="26430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E60BD4-89B0-E524-8F6C-ADBA6669F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689" y="1557338"/>
            <a:ext cx="6874168" cy="4092651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05053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062BD-8BF1-A699-C5E0-E5FF2BBD1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53E9968-E7DA-8AE4-3F19-1A374795E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Score breakdown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A3E9F2-2871-6837-FCE8-D80E941FA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940059"/>
              </p:ext>
            </p:extLst>
          </p:nvPr>
        </p:nvGraphicFramePr>
        <p:xfrm>
          <a:off x="568960" y="1198917"/>
          <a:ext cx="10232615" cy="5348344"/>
        </p:xfrm>
        <a:graphic>
          <a:graphicData uri="http://schemas.openxmlformats.org/drawingml/2006/table">
            <a:tbl>
              <a:tblPr firstCol="1"/>
              <a:tblGrid>
                <a:gridCol w="1212922">
                  <a:extLst>
                    <a:ext uri="{9D8B030D-6E8A-4147-A177-3AD203B41FA5}">
                      <a16:colId xmlns:a16="http://schemas.microsoft.com/office/drawing/2014/main" val="3113121742"/>
                    </a:ext>
                  </a:extLst>
                </a:gridCol>
                <a:gridCol w="2559646">
                  <a:extLst>
                    <a:ext uri="{9D8B030D-6E8A-4147-A177-3AD203B41FA5}">
                      <a16:colId xmlns:a16="http://schemas.microsoft.com/office/drawing/2014/main" val="1625475787"/>
                    </a:ext>
                  </a:extLst>
                </a:gridCol>
                <a:gridCol w="668347">
                  <a:extLst>
                    <a:ext uri="{9D8B030D-6E8A-4147-A177-3AD203B41FA5}">
                      <a16:colId xmlns:a16="http://schemas.microsoft.com/office/drawing/2014/main" val="1535087981"/>
                    </a:ext>
                  </a:extLst>
                </a:gridCol>
                <a:gridCol w="804570">
                  <a:extLst>
                    <a:ext uri="{9D8B030D-6E8A-4147-A177-3AD203B41FA5}">
                      <a16:colId xmlns:a16="http://schemas.microsoft.com/office/drawing/2014/main" val="2551595483"/>
                    </a:ext>
                  </a:extLst>
                </a:gridCol>
                <a:gridCol w="845739">
                  <a:extLst>
                    <a:ext uri="{9D8B030D-6E8A-4147-A177-3AD203B41FA5}">
                      <a16:colId xmlns:a16="http://schemas.microsoft.com/office/drawing/2014/main" val="1594207783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2271915179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1853812213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1818747723"/>
                    </a:ext>
                  </a:extLst>
                </a:gridCol>
                <a:gridCol w="1063187">
                  <a:extLst>
                    <a:ext uri="{9D8B030D-6E8A-4147-A177-3AD203B41FA5}">
                      <a16:colId xmlns:a16="http://schemas.microsoft.com/office/drawing/2014/main" val="1763277425"/>
                    </a:ext>
                  </a:extLst>
                </a:gridCol>
                <a:gridCol w="968607">
                  <a:extLst>
                    <a:ext uri="{9D8B030D-6E8A-4147-A177-3AD203B41FA5}">
                      <a16:colId xmlns:a16="http://schemas.microsoft.com/office/drawing/2014/main" val="3798419767"/>
                    </a:ext>
                  </a:extLst>
                </a:gridCol>
              </a:tblGrid>
              <a:tr h="13726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NETCHECK KPIS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Score weight (%)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Max score over 1000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Vodafone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kern="120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O2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Three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EE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0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GAP Vodafone vs  EE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GAP Three vs EE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597588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14.28%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142.80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133.33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124.56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98907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SETUP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1.68%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16.32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5007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SETUP TIME &gt; 15 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2516350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4.20%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32.31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34.17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106333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[MOS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87346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2.80%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22.02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25.88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73645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991858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452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[MOS]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68066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9.30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7.01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43880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Multi RAB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MULTI RAB DATA TRANSFER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13.27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414515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4.68%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43.65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8.79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50188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TRANSFER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659621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UL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31982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UL TRANSFER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1.56%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442784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28.17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29.45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4748435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5Mbit/s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39.00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12.39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50288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39.00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31.52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35.38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20006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100Mbit/s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78170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P90 [Mbit/s]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381121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1.56%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34397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3Mbit/s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1.95%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19.50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6042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1.95%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19.50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520103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20Mbit/s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1.17%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5823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P90 [Mbit/s]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1.17%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-0.09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4864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HTTP/HTTPs BROWSING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TIME TO 1MB [</a:t>
                      </a:r>
                      <a:r>
                        <a:rPr lang="en-US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ms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5.20%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30339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7.80%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78.00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68.55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75.53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02682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8.32%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83.20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77.20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81.14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439850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TTFP &gt;= 10 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48413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IRRITATING EXPERIENCE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4.16%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41.60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41.34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3278409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PACKET ERROR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6.59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5527329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MEDIAN RTT [MS]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485007"/>
                  </a:ext>
                </a:extLst>
              </a:tr>
            </a:tbl>
          </a:graphicData>
        </a:graphic>
      </p:graphicFrame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260229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F3A1-4245-A842-327B-8DB1A9AD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380641-CF34-AB65-D630-1B6F33614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KPIs prioritization: gap Vodafone vs EE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835D3A4-BA53-6227-34A6-C4AD5B9FF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269763"/>
              </p:ext>
            </p:extLst>
          </p:nvPr>
        </p:nvGraphicFramePr>
        <p:xfrm>
          <a:off x="548394" y="1948786"/>
          <a:ext cx="6954260" cy="340371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666724">
                  <a:extLst>
                    <a:ext uri="{9D8B030D-6E8A-4147-A177-3AD203B41FA5}">
                      <a16:colId xmlns:a16="http://schemas.microsoft.com/office/drawing/2014/main" val="3642605734"/>
                    </a:ext>
                  </a:extLst>
                </a:gridCol>
                <a:gridCol w="3040319">
                  <a:extLst>
                    <a:ext uri="{9D8B030D-6E8A-4147-A177-3AD203B41FA5}">
                      <a16:colId xmlns:a16="http://schemas.microsoft.com/office/drawing/2014/main" val="254157762"/>
                    </a:ext>
                  </a:extLst>
                </a:gridCol>
                <a:gridCol w="1353904">
                  <a:extLst>
                    <a:ext uri="{9D8B030D-6E8A-4147-A177-3AD203B41FA5}">
                      <a16:colId xmlns:a16="http://schemas.microsoft.com/office/drawing/2014/main" val="2990189239"/>
                    </a:ext>
                  </a:extLst>
                </a:gridCol>
                <a:gridCol w="893313">
                  <a:extLst>
                    <a:ext uri="{9D8B030D-6E8A-4147-A177-3AD203B41FA5}">
                      <a16:colId xmlns:a16="http://schemas.microsoft.com/office/drawing/2014/main" val="1773962362"/>
                    </a:ext>
                  </a:extLst>
                </a:gridCol>
              </a:tblGrid>
              <a:tr h="747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Netcheck</a:t>
                      </a:r>
                      <a:r>
                        <a:rPr lang="en-US" sz="16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KPIs</a:t>
                      </a:r>
                    </a:p>
                  </a:txBody>
                  <a:tcPr marL="5198" marR="5198" marT="519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GAP Vodafone vs EE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Type of KPI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/>
                </a:tc>
                <a:extLst>
                  <a:ext uri="{0D108BD9-81ED-4DB2-BD59-A6C34878D82A}">
                    <a16:rowId xmlns:a16="http://schemas.microsoft.com/office/drawing/2014/main" val="11912065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DL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8.79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410013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HTTP/HTTPs BROWSING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4373942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UL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87370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VIDEO STREAM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VIDEO STREAMING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40423678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20Mbit/s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5916961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048391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INTERACTIVITY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INTERACTIVITY MEDIAN RTT [MS]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746850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DL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6701890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P90 [Mbit/s]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29836276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UL THROUGHPUT &gt; 10Mbit/s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1.65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71184441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100Mbit/s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5803910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3724733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UL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57910050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CALL SETUP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9323316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2Mbit/s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394004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6570303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UL THROUGHPUT &gt; 3Mbit/s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36332286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5Mbit/s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4656314"/>
                  </a:ext>
                </a:extLst>
              </a:tr>
            </a:tbl>
          </a:graphicData>
        </a:graphic>
      </p:graphicFrame>
      <p:sp>
        <p:nvSpPr>
          <p:cNvPr id="5" name="Content Placeholder 10">
            <a:extLst>
              <a:ext uri="{FF2B5EF4-FFF2-40B4-BE49-F238E27FC236}">
                <a16:creationId xmlns:a16="http://schemas.microsoft.com/office/drawing/2014/main" id="{B4F34C75-980E-919A-0A59-4B0BB617A70B}"/>
              </a:ext>
            </a:extLst>
          </p:cNvPr>
          <p:cNvSpPr txBox="1">
            <a:spLocks/>
          </p:cNvSpPr>
          <p:nvPr/>
        </p:nvSpPr>
        <p:spPr>
          <a:xfrm>
            <a:off x="7715249" y="1933574"/>
            <a:ext cx="4131719" cy="3112019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>
                <a:sym typeface="Wingdings" panose="05000000000000000000" pitchFamily="2" charset="2"/>
              </a:rPr>
              <a:t>Vodafone having highest gap with EE in data success ratio in Q4, all part of reliability definition (</a:t>
            </a:r>
            <a:r>
              <a:rPr lang="en-US" b="1">
                <a:sym typeface="Wingdings" panose="05000000000000000000" pitchFamily="2" charset="2"/>
              </a:rPr>
              <a:t>almost 25 points </a:t>
            </a:r>
            <a:r>
              <a:rPr lang="en-US">
                <a:sym typeface="Wingdings" panose="05000000000000000000" pitchFamily="2" charset="2"/>
              </a:rPr>
              <a:t>gap with EE).</a:t>
            </a:r>
          </a:p>
          <a:p>
            <a:pPr marL="0" indent="0">
              <a:buNone/>
            </a:pPr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pPr marL="265113" lvl="1" indent="0">
              <a:buFont typeface="Ericsson Hilda" panose="00000500000000000000" pitchFamily="2" charset="0"/>
              <a:buNone/>
            </a:pPr>
            <a:endParaRPr lang="en-US">
              <a:sym typeface="Wingdings" panose="05000000000000000000" pitchFamily="2" charset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502D0C-CCAA-01FC-46C7-F87948F64A2B}"/>
              </a:ext>
            </a:extLst>
          </p:cNvPr>
          <p:cNvSpPr txBox="1"/>
          <p:nvPr/>
        </p:nvSpPr>
        <p:spPr>
          <a:xfrm>
            <a:off x="9549477" y="5150073"/>
            <a:ext cx="229749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Low-rate DL sessions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4F63ED-8A4E-0E2B-101D-1D00DE27AE8F}"/>
              </a:ext>
            </a:extLst>
          </p:cNvPr>
          <p:cNvSpPr txBox="1"/>
          <p:nvPr/>
        </p:nvSpPr>
        <p:spPr>
          <a:xfrm>
            <a:off x="9508780" y="4298231"/>
            <a:ext cx="234742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Voice qualifiers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9E5F10-369D-733F-4A06-0D7E4251DF88}"/>
              </a:ext>
            </a:extLst>
          </p:cNvPr>
          <p:cNvSpPr txBox="1"/>
          <p:nvPr/>
        </p:nvSpPr>
        <p:spPr>
          <a:xfrm>
            <a:off x="8556447" y="3434392"/>
            <a:ext cx="2612326" cy="3385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Focus Areas Vodafone: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057FEE-2742-8F5F-80CB-B26BBBA0ED39}"/>
              </a:ext>
            </a:extLst>
          </p:cNvPr>
          <p:cNvSpPr txBox="1"/>
          <p:nvPr/>
        </p:nvSpPr>
        <p:spPr>
          <a:xfrm>
            <a:off x="8064334" y="3896228"/>
            <a:ext cx="229749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Data Qualifiers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FF6447-DF23-BB5B-B2B9-559BA3381D7D}"/>
              </a:ext>
            </a:extLst>
          </p:cNvPr>
          <p:cNvSpPr txBox="1"/>
          <p:nvPr/>
        </p:nvSpPr>
        <p:spPr>
          <a:xfrm>
            <a:off x="8082325" y="4710113"/>
            <a:ext cx="218929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POLQA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E6F6DB-63A6-A965-1431-D2C1936A3BFC}"/>
              </a:ext>
            </a:extLst>
          </p:cNvPr>
          <p:cNvSpPr txBox="1"/>
          <p:nvPr/>
        </p:nvSpPr>
        <p:spPr>
          <a:xfrm>
            <a:off x="8125466" y="5567703"/>
            <a:ext cx="1787948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Interactivity RTT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C4CCC0F-F7EF-1380-0993-6B9C31F7F401}"/>
              </a:ext>
            </a:extLst>
          </p:cNvPr>
          <p:cNvCxnSpPr>
            <a:cxnSpLocks/>
          </p:cNvCxnSpPr>
          <p:nvPr/>
        </p:nvCxnSpPr>
        <p:spPr bwMode="auto">
          <a:xfrm>
            <a:off x="404961" y="1481841"/>
            <a:ext cx="0" cy="3685222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559E423-FE1B-A1D7-8A07-23751323F967}"/>
              </a:ext>
            </a:extLst>
          </p:cNvPr>
          <p:cNvSpPr txBox="1"/>
          <p:nvPr/>
        </p:nvSpPr>
        <p:spPr>
          <a:xfrm>
            <a:off x="178691" y="1481841"/>
            <a:ext cx="1011934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Priority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C580A2-99A4-FF72-E295-4CFA2E86B9AB}"/>
              </a:ext>
            </a:extLst>
          </p:cNvPr>
          <p:cNvSpPr txBox="1"/>
          <p:nvPr/>
        </p:nvSpPr>
        <p:spPr>
          <a:xfrm>
            <a:off x="9657678" y="5980043"/>
            <a:ext cx="218929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Low-rate UL sessions</a:t>
            </a:r>
          </a:p>
        </p:txBody>
      </p:sp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6193EC98-3904-F84F-DC83-A686696E2691}"/>
              </a:ext>
            </a:extLst>
          </p:cNvPr>
          <p:cNvSpPr txBox="1">
            <a:spLocks/>
          </p:cNvSpPr>
          <p:nvPr/>
        </p:nvSpPr>
        <p:spPr>
          <a:xfrm>
            <a:off x="479425" y="5609268"/>
            <a:ext cx="7235824" cy="741550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dirty="0"/>
              <a:t>Cities considered: </a:t>
            </a:r>
            <a:r>
              <a:rPr lang="en-US" sz="1600" b="1" dirty="0"/>
              <a:t>Belfast, Bristol, Cardiff, Edinburgh, London, Leeds and Sheffield</a:t>
            </a:r>
            <a:r>
              <a:rPr lang="en-US" sz="1600" dirty="0"/>
              <a:t>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50788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F0209-03FA-F0F6-54CD-56682AB27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2FE319C-E7C0-24DD-12A9-E2BBD5200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KPIs prioritization: gap Three vs EE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588A020-7FA1-AF45-C69C-15CF3D2BB52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5851991"/>
            <a:ext cx="7112000" cy="741550"/>
          </a:xfrm>
        </p:spPr>
        <p:txBody>
          <a:bodyPr/>
          <a:lstStyle/>
          <a:p>
            <a:r>
              <a:rPr lang="en-US" sz="1600"/>
              <a:t>Cities considered: </a:t>
            </a:r>
            <a:r>
              <a:rPr lang="en-US" sz="1600" b="1"/>
              <a:t>Belfast, Bristol, Cardiff, Edinburgh, London, Leeds and Sheffield</a:t>
            </a:r>
            <a:r>
              <a:rPr lang="en-US" sz="1600"/>
              <a:t>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B24AF3E-FE4B-0E61-0A17-A284004045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068019"/>
              </p:ext>
            </p:extLst>
          </p:nvPr>
        </p:nvGraphicFramePr>
        <p:xfrm>
          <a:off x="603849" y="1669928"/>
          <a:ext cx="6774816" cy="351814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466192">
                  <a:extLst>
                    <a:ext uri="{9D8B030D-6E8A-4147-A177-3AD203B41FA5}">
                      <a16:colId xmlns:a16="http://schemas.microsoft.com/office/drawing/2014/main" val="4208412275"/>
                    </a:ext>
                  </a:extLst>
                </a:gridCol>
                <a:gridCol w="3180044">
                  <a:extLst>
                    <a:ext uri="{9D8B030D-6E8A-4147-A177-3AD203B41FA5}">
                      <a16:colId xmlns:a16="http://schemas.microsoft.com/office/drawing/2014/main" val="1695913719"/>
                    </a:ext>
                  </a:extLst>
                </a:gridCol>
                <a:gridCol w="879739">
                  <a:extLst>
                    <a:ext uri="{9D8B030D-6E8A-4147-A177-3AD203B41FA5}">
                      <a16:colId xmlns:a16="http://schemas.microsoft.com/office/drawing/2014/main" val="1947050798"/>
                    </a:ext>
                  </a:extLst>
                </a:gridCol>
                <a:gridCol w="1248841">
                  <a:extLst>
                    <a:ext uri="{9D8B030D-6E8A-4147-A177-3AD203B41FA5}">
                      <a16:colId xmlns:a16="http://schemas.microsoft.com/office/drawing/2014/main" val="2677595599"/>
                    </a:ext>
                  </a:extLst>
                </a:gridCol>
              </a:tblGrid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  <a:latin typeface="+mn-lt"/>
                        </a:rPr>
                        <a:t>NETCHECK KPIS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GAP Three vs EE</a:t>
                      </a:r>
                      <a:endParaRPr lang="en-US" sz="12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Type of KPI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26886304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45.16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7389773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12.57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90446821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5Mbit/s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12.39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71051621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7.44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9175304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INTERACTIVITY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PACKET ERROR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7.43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412573719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6.84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73620819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HTTP/HTTPs BROWSING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6.66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63148115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5.87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93977934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VIDEO STREAM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4.41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1742449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66371158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3.50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198104682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2.57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420849038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100Mbit/s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2.19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882296282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2.12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225149501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3Mbit/s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2.08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60730844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118846140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1.67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2684343519"/>
                  </a:ext>
                </a:extLst>
              </a:tr>
            </a:tbl>
          </a:graphicData>
        </a:graphic>
      </p:graphicFrame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5896B9CD-9092-F644-2E98-782E55392649}"/>
              </a:ext>
            </a:extLst>
          </p:cNvPr>
          <p:cNvSpPr txBox="1">
            <a:spLocks/>
          </p:cNvSpPr>
          <p:nvPr/>
        </p:nvSpPr>
        <p:spPr>
          <a:xfrm>
            <a:off x="7649792" y="1947040"/>
            <a:ext cx="4248220" cy="4112328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800">
                <a:sym typeface="Wingdings" panose="05000000000000000000" pitchFamily="2" charset="2"/>
              </a:rPr>
              <a:t>Three with highest gap in data qualifier (FDFS DL </a:t>
            </a:r>
            <a:r>
              <a:rPr lang="en-US" sz="1800" b="1">
                <a:sym typeface="Wingdings" panose="05000000000000000000" pitchFamily="2" charset="2"/>
              </a:rPr>
              <a:t>45 points </a:t>
            </a:r>
            <a:r>
              <a:rPr lang="en-US" sz="1800">
                <a:sym typeface="Wingdings" panose="05000000000000000000" pitchFamily="2" charset="2"/>
              </a:rPr>
              <a:t>gap with EE, browsing and YouTube 11 points).</a:t>
            </a:r>
          </a:p>
          <a:p>
            <a:r>
              <a:rPr lang="en-US" sz="1800">
                <a:sym typeface="Wingdings" panose="05000000000000000000" pitchFamily="2" charset="2"/>
              </a:rPr>
              <a:t>Low DL throughput samples for FDTT DL showing a gap of </a:t>
            </a:r>
            <a:r>
              <a:rPr lang="en-US" sz="1800" b="1">
                <a:sym typeface="Wingdings" panose="05000000000000000000" pitchFamily="2" charset="2"/>
              </a:rPr>
              <a:t>30 points </a:t>
            </a:r>
            <a:r>
              <a:rPr lang="en-US" sz="1800">
                <a:sym typeface="Wingdings" panose="05000000000000000000" pitchFamily="2" charset="2"/>
              </a:rPr>
              <a:t>with EE</a:t>
            </a:r>
          </a:p>
          <a:p>
            <a:r>
              <a:rPr lang="en-US" sz="1800">
                <a:sym typeface="Wingdings" panose="05000000000000000000" pitchFamily="2" charset="2"/>
              </a:rPr>
              <a:t>Voice qualifiers showing 13 points gap.</a:t>
            </a:r>
          </a:p>
          <a:p>
            <a:endParaRPr lang="en-US" sz="1800">
              <a:sym typeface="Wingdings" panose="05000000000000000000" pitchFamily="2" charset="2"/>
            </a:endParaRPr>
          </a:p>
          <a:p>
            <a:endParaRPr lang="en-US" sz="1800">
              <a:sym typeface="Wingdings" panose="05000000000000000000" pitchFamily="2" charset="2"/>
            </a:endParaRPr>
          </a:p>
          <a:p>
            <a:pPr marL="265113" lvl="1" indent="0">
              <a:buFont typeface="Ericsson Hilda" panose="00000500000000000000" pitchFamily="2" charset="0"/>
              <a:buNone/>
            </a:pPr>
            <a:endParaRPr lang="en-US" sz="1800">
              <a:sym typeface="Wingdings" panose="05000000000000000000" pitchFamily="2" charset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223153-839D-9887-B351-F29FE86D2D56}"/>
              </a:ext>
            </a:extLst>
          </p:cNvPr>
          <p:cNvSpPr txBox="1"/>
          <p:nvPr/>
        </p:nvSpPr>
        <p:spPr>
          <a:xfrm>
            <a:off x="9647274" y="4596635"/>
            <a:ext cx="2250738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Low-rate DL sessions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2BBF77-7116-540E-4E42-8CA2CC91348E}"/>
              </a:ext>
            </a:extLst>
          </p:cNvPr>
          <p:cNvSpPr txBox="1"/>
          <p:nvPr/>
        </p:nvSpPr>
        <p:spPr>
          <a:xfrm>
            <a:off x="7689715" y="5075223"/>
            <a:ext cx="203287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Voice Qualifiers</a:t>
            </a:r>
            <a:endParaRPr lang="en-US" sz="1600" b="1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FB717-1FE3-5715-D630-86758655E6D5}"/>
              </a:ext>
            </a:extLst>
          </p:cNvPr>
          <p:cNvSpPr txBox="1"/>
          <p:nvPr/>
        </p:nvSpPr>
        <p:spPr>
          <a:xfrm>
            <a:off x="8718660" y="4156289"/>
            <a:ext cx="205789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Focus Areas Three: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8ED027-5F9E-9895-4D89-8944C5853005}"/>
              </a:ext>
            </a:extLst>
          </p:cNvPr>
          <p:cNvSpPr txBox="1"/>
          <p:nvPr/>
        </p:nvSpPr>
        <p:spPr>
          <a:xfrm>
            <a:off x="7689715" y="4589681"/>
            <a:ext cx="1732265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Data qualifiers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5241A-3516-9DA3-4A58-4052B9C6AC9F}"/>
              </a:ext>
            </a:extLst>
          </p:cNvPr>
          <p:cNvSpPr txBox="1"/>
          <p:nvPr/>
        </p:nvSpPr>
        <p:spPr>
          <a:xfrm>
            <a:off x="7469648" y="5597967"/>
            <a:ext cx="2261426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Disturbed and impaired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1998B-62A9-47E6-1243-305D48F1CD74}"/>
              </a:ext>
            </a:extLst>
          </p:cNvPr>
          <p:cNvSpPr txBox="1"/>
          <p:nvPr/>
        </p:nvSpPr>
        <p:spPr>
          <a:xfrm>
            <a:off x="9906510" y="5600908"/>
            <a:ext cx="1732265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Interactivity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075AEE-3E9A-8DD4-664F-AE96FA23E699}"/>
              </a:ext>
            </a:extLst>
          </p:cNvPr>
          <p:cNvSpPr txBox="1"/>
          <p:nvPr/>
        </p:nvSpPr>
        <p:spPr>
          <a:xfrm>
            <a:off x="9865141" y="5075223"/>
            <a:ext cx="203287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POLQA&lt;1.6</a:t>
            </a:r>
            <a:endParaRPr lang="en-US" sz="1600" b="1">
              <a:latin typeface="+mn-lt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EABCB2-627A-AAB1-A7DE-793DD98B9570}"/>
              </a:ext>
            </a:extLst>
          </p:cNvPr>
          <p:cNvCxnSpPr>
            <a:cxnSpLocks/>
          </p:cNvCxnSpPr>
          <p:nvPr/>
        </p:nvCxnSpPr>
        <p:spPr bwMode="auto">
          <a:xfrm>
            <a:off x="440843" y="1586389"/>
            <a:ext cx="0" cy="3685222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F219DF9-D34B-3E5D-50E3-07C8B2663C92}"/>
              </a:ext>
            </a:extLst>
          </p:cNvPr>
          <p:cNvSpPr txBox="1"/>
          <p:nvPr/>
        </p:nvSpPr>
        <p:spPr>
          <a:xfrm>
            <a:off x="50393" y="1249561"/>
            <a:ext cx="858064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400" b="1">
                <a:latin typeface="+mn-lt"/>
              </a:rPr>
              <a:t>Priority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229128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69E7-B9B4-BCEB-8F49-99C4BA58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D772A2B2-CE8A-6AA3-3002-7EDAFFDFF4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4C16A9A5-3AEA-2B2E-42E7-EEB1BD56C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6179F2E6-08A1-E2D1-58E6-568E0C3D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/>
          <a:lstStyle/>
          <a:p>
            <a:r>
              <a:rPr lang="en-US" sz="4800" dirty="0"/>
              <a:t>7 cities analysis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Belfast, Bristol, Cardiff, Edinburgh, London, Leeds and Sheffield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0AD13F97-5FB6-AA11-8C2D-92F6C00381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2352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8F508-1120-DEBF-44EC-676179018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399217-524F-D4D4-DEC7-689FDE9A0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425" y="1233445"/>
            <a:ext cx="9388475" cy="439111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76646654-D34B-4BC0-16F4-5CEF36116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941050" cy="1081088"/>
          </a:xfrm>
        </p:spPr>
        <p:txBody>
          <a:bodyPr/>
          <a:lstStyle/>
          <a:p>
            <a:r>
              <a:rPr lang="en-US" dirty="0"/>
              <a:t>Completed Call Ratio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F7E8881-1E51-5A7D-C43E-6AF80D97320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96350" y="3181349"/>
            <a:ext cx="2687759" cy="2443206"/>
          </a:xfrm>
        </p:spPr>
        <p:txBody>
          <a:bodyPr/>
          <a:lstStyle/>
          <a:p>
            <a:r>
              <a:rPr lang="en-US" dirty="0"/>
              <a:t>Three having worse performance in VoLTE and WhatsApp in Q4.</a:t>
            </a:r>
          </a:p>
          <a:p>
            <a:r>
              <a:rPr lang="en-US" dirty="0"/>
              <a:t>Small degradation in WhatsApp for Vodafone in Q4.</a:t>
            </a:r>
          </a:p>
          <a:p>
            <a:endParaRPr lang="en-US" dirty="0"/>
          </a:p>
          <a:p>
            <a:endParaRPr lang="en-US" dirty="0">
              <a:sym typeface="Wingdings" panose="05000000000000000000" pitchFamily="2" charset="2"/>
            </a:endParaRP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pPr lvl="1"/>
            <a:endParaRPr lang="en-US" dirty="0">
              <a:sym typeface="Wingdings" panose="05000000000000000000" pitchFamily="2" charset="2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0A65A5-2E82-0DE2-F0E6-1914D77AF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3056571" y="5375925"/>
            <a:ext cx="273685" cy="29041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832A116-7749-9E65-B3EE-7813CD5FA226}"/>
              </a:ext>
            </a:extLst>
          </p:cNvPr>
          <p:cNvCxnSpPr>
            <a:cxnSpLocks/>
          </p:cNvCxnSpPr>
          <p:nvPr/>
        </p:nvCxnSpPr>
        <p:spPr bwMode="auto">
          <a:xfrm flipV="1">
            <a:off x="3098164" y="2890931"/>
            <a:ext cx="273685" cy="29041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3CA1241-FE91-4C36-22EE-9377375124D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42896" y="5393943"/>
            <a:ext cx="273685" cy="29041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079321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A9D0A-B719-F4C7-D29C-064B099ED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243510-D529-245C-F96A-0D2B348D1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78" y="1316848"/>
            <a:ext cx="10821338" cy="32692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1B22D6-8539-1128-7007-2DE6ACA9C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Voice failures per Q/city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7D7E4-F12D-2ABD-ADF2-B8F85F85C16E}"/>
              </a:ext>
            </a:extLst>
          </p:cNvPr>
          <p:cNvSpPr txBox="1"/>
          <p:nvPr/>
        </p:nvSpPr>
        <p:spPr>
          <a:xfrm flipH="1">
            <a:off x="589278" y="4965044"/>
            <a:ext cx="102616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800"/>
              <a:t>Three: higher number of Volte and WhatsApp </a:t>
            </a:r>
            <a:r>
              <a:rPr lang="en-US"/>
              <a:t>failed calls</a:t>
            </a:r>
            <a:r>
              <a:rPr lang="en-US" sz="1800"/>
              <a:t> in London in Q4 compared to Q3. </a:t>
            </a:r>
            <a:endParaRPr lang="en-US"/>
          </a:p>
          <a:p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Vodafone showing similar number of voice failures in Q4 and even improvement in Sheffield figures for VoLTE service.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8CE1C5E-B412-F8F8-4822-E61226AF1D3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361180" y="2970157"/>
            <a:ext cx="379095" cy="458843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FBC6D45-CDF9-DF61-CABA-7DD7524EF1E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903980" y="3817882"/>
            <a:ext cx="379095" cy="458843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BBA2E7D-A538-6512-BA39-1910BBB2D87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832851" y="3199578"/>
            <a:ext cx="379095" cy="458843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11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23DA2-FF2E-BCEC-81AE-27064E20C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F01FA-20CA-3E12-08B7-531ACA3D0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0" y="1104231"/>
            <a:ext cx="9445401" cy="49877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42B162-F98E-99F9-8B49-2477C6BE0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Data failure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0483B8-AA06-4E17-58D8-27A87A01636F}"/>
              </a:ext>
            </a:extLst>
          </p:cNvPr>
          <p:cNvSpPr txBox="1"/>
          <p:nvPr/>
        </p:nvSpPr>
        <p:spPr>
          <a:xfrm flipH="1">
            <a:off x="9629774" y="2936393"/>
            <a:ext cx="235616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/>
              <a:t>Worse data qualifiers in Q4 for Vodafone compared to Q3 for all data services. </a:t>
            </a:r>
          </a:p>
          <a:p>
            <a:endParaRPr lang="en-US" sz="2000"/>
          </a:p>
          <a:p>
            <a:pPr marL="285750" indent="-285750">
              <a:buFontTx/>
              <a:buChar char="-"/>
            </a:pPr>
            <a:r>
              <a:rPr lang="en-US" sz="2000"/>
              <a:t>Biggest gap on FDFS DL&amp;UL</a:t>
            </a:r>
          </a:p>
          <a:p>
            <a:endParaRPr lang="en-US" sz="20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D20035-7DFF-25A5-DF0F-D93F4E26209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022698" y="5093186"/>
            <a:ext cx="758189" cy="439607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8A4CF3-B4A9-08D1-2529-009CDE1F6104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959851" y="4318644"/>
            <a:ext cx="758189" cy="439607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0E3EFD7-0059-62A3-5B4E-277E1F594B99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959850" y="1702132"/>
            <a:ext cx="758189" cy="439607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2" name="Arrow: Curved Right 21">
            <a:extLst>
              <a:ext uri="{FF2B5EF4-FFF2-40B4-BE49-F238E27FC236}">
                <a16:creationId xmlns:a16="http://schemas.microsoft.com/office/drawing/2014/main" id="{4E319CC1-9D0F-C19C-B124-CF0784575B3C}"/>
              </a:ext>
            </a:extLst>
          </p:cNvPr>
          <p:cNvSpPr/>
          <p:nvPr/>
        </p:nvSpPr>
        <p:spPr>
          <a:xfrm>
            <a:off x="206057" y="2471738"/>
            <a:ext cx="546735" cy="2171382"/>
          </a:xfrm>
          <a:prstGeom prst="curved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err="1">
              <a:solidFill>
                <a:schemeClr val="tx1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461D41-E23F-3722-0CBC-3420A4E0A150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959850" y="2319552"/>
            <a:ext cx="758189" cy="439607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CF5B801-833D-B3A8-EA62-49ABDF3A181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959849" y="2936393"/>
            <a:ext cx="441943" cy="269835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082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F025E-520A-3552-CA67-12C9DAF72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06A865-6CC8-55B5-09FD-39F468D26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278610"/>
            <a:ext cx="8760983" cy="40175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AE2431-24A3-60EB-DD5B-B8D5582E8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Data failures - FDFS test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0CF9C3-8501-4B3B-5659-1634CB9433A6}"/>
              </a:ext>
            </a:extLst>
          </p:cNvPr>
          <p:cNvSpPr txBox="1"/>
          <p:nvPr/>
        </p:nvSpPr>
        <p:spPr>
          <a:xfrm flipH="1">
            <a:off x="8612663" y="2875280"/>
            <a:ext cx="319706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800"/>
              <a:t>Three: </a:t>
            </a:r>
            <a:r>
              <a:rPr lang="en-US"/>
              <a:t>failures in Q4 in FDFS coming from https DL as already known</a:t>
            </a:r>
            <a:endParaRPr lang="en-US" sz="1800"/>
          </a:p>
          <a:p>
            <a:pPr marL="285750" indent="-285750">
              <a:buFontTx/>
              <a:buChar char="-"/>
            </a:pPr>
            <a:endParaRPr lang="en-US" sz="1800"/>
          </a:p>
          <a:p>
            <a:pPr marL="285750" indent="-285750">
              <a:buFontTx/>
              <a:buChar char="-"/>
            </a:pPr>
            <a:r>
              <a:rPr lang="en-US"/>
              <a:t>Vodafone: increased of data failures in FDFS DL&amp;UL in Q4. Higher FDFS UL failure ratio compared to three and EE in Q4.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F397C55-11AF-FE35-E0AE-851B3202AA5D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193008" y="4282379"/>
            <a:ext cx="386715" cy="352505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F2FFBDF-D600-16F8-C863-5E21D3E9B460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127126" y="1747322"/>
            <a:ext cx="518478" cy="4035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2B08326-D0D9-015B-ED0A-AAB2A0CA719C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222852" y="3384033"/>
            <a:ext cx="386715" cy="352505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2EB1A74-127B-7D87-3426-837806E3E7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8127126" y="2611326"/>
            <a:ext cx="518478" cy="403524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5DE75F-F60F-8B16-9A51-00A9FCC2C15F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269423" y="3076495"/>
            <a:ext cx="386715" cy="352505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0145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1418A-0D3A-4D61-8BE0-93844D222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1E78-B5F9-A110-7E7F-08C3B1E95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AVG MOS (</a:t>
            </a:r>
            <a:r>
              <a:rPr lang="en-US" err="1"/>
              <a:t>Multirab&amp;volte</a:t>
            </a:r>
            <a:r>
              <a:rPr lang="en-US"/>
              <a:t>)</a:t>
            </a:r>
            <a:br>
              <a:rPr lang="en-US"/>
            </a:br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1010A3-91AA-9646-21DF-EEA54E9942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609"/>
          <a:stretch>
            <a:fillRect/>
          </a:stretch>
        </p:blipFill>
        <p:spPr>
          <a:xfrm>
            <a:off x="479425" y="1254562"/>
            <a:ext cx="8957642" cy="4008318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1C166F-6B9A-A955-FCB9-B95C486ECB3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41094" y="5300662"/>
            <a:ext cx="9726881" cy="1081088"/>
          </a:xfrm>
        </p:spPr>
        <p:txBody>
          <a:bodyPr/>
          <a:lstStyle/>
          <a:p>
            <a:r>
              <a:rPr lang="en-US"/>
              <a:t>Degradation observed in Three in POLQA AVG MOS in Q4 compared to Q2 in </a:t>
            </a:r>
            <a:r>
              <a:rPr lang="en-US" err="1"/>
              <a:t>cdf</a:t>
            </a:r>
            <a:r>
              <a:rPr lang="en-US"/>
              <a:t>.</a:t>
            </a:r>
          </a:p>
          <a:p>
            <a:r>
              <a:rPr lang="en-US"/>
              <a:t>Similar performance for Vodafone across Qs</a:t>
            </a:r>
          </a:p>
          <a:p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622728-B452-4E18-AC0B-07583702AAD9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526472" y="3429000"/>
            <a:ext cx="424498" cy="446382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1893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3328A-697D-0F6C-2F5D-AC27BC433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349ED66-6D9F-7B0F-5AD0-7A8DDF418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466850"/>
            <a:ext cx="8524876" cy="3409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ADCAC0-FFEE-E3EE-E424-823A3FCEA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AVG MOS (WhatsApp)</a:t>
            </a:r>
            <a:br>
              <a:rPr lang="en-US"/>
            </a:br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8CDDDF2-145E-E680-807E-CC483DF4345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98219" y="5097223"/>
            <a:ext cx="9726881" cy="1081088"/>
          </a:xfrm>
        </p:spPr>
        <p:txBody>
          <a:bodyPr/>
          <a:lstStyle/>
          <a:p>
            <a:r>
              <a:rPr lang="en-US"/>
              <a:t>Similar performance for Vodafone in POLQA avg MOS for WhatsApp across Qs.</a:t>
            </a:r>
          </a:p>
          <a:p>
            <a:r>
              <a:rPr lang="en-US"/>
              <a:t>Three having small improvement in POLQA Avg MOS for WhatsApp service, mainly visible from p20 percentile</a:t>
            </a:r>
          </a:p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770F48-0D0A-1E69-7931-E2910B51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425" y="3057955"/>
            <a:ext cx="3449512" cy="1894126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9E48FE-C892-2988-EE7E-003D014507D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634345" y="4107627"/>
            <a:ext cx="424498" cy="446382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69C1A38-1DD7-F934-D07A-EF52C765336A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671502" y="2324747"/>
            <a:ext cx="300673" cy="361303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E7979B9C-F9B0-B68B-281A-4E76C8092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1981" y="2176249"/>
            <a:ext cx="715618" cy="697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999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8D0F7-1C70-1489-600B-E3A8D7262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8B4304E-468A-6D80-A5EC-7E8540B236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23"/>
          <a:stretch>
            <a:fillRect/>
          </a:stretch>
        </p:blipFill>
        <p:spPr>
          <a:xfrm>
            <a:off x="5779890" y="1594365"/>
            <a:ext cx="6105921" cy="27187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045BBB-16E2-65EC-3EF2-1D833FF6E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&lt;1.6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A8340E4-251B-0EB9-0F2C-4E8B8C4F16A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98879" y="4603390"/>
            <a:ext cx="9564321" cy="1081088"/>
          </a:xfrm>
        </p:spPr>
        <p:txBody>
          <a:bodyPr/>
          <a:lstStyle/>
          <a:p>
            <a:r>
              <a:rPr lang="en-US"/>
              <a:t>Small degradation observed in Vodafone from Q4 compared to Q2 in POLQA &lt;1.6 rate in WhatsApp calls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863193-32BD-8819-FD75-C6AA8E24E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74" y="1343504"/>
            <a:ext cx="5345316" cy="296962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60E17B1-C2BB-78F6-9123-05B3A0AE961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1234102" y="2211093"/>
            <a:ext cx="424498" cy="446382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295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9437E-5595-8CC9-B760-57663CCC0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EB5E6-9079-1720-9B5B-1E3E838D4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CST</a:t>
            </a:r>
            <a:br>
              <a:rPr lang="en-US"/>
            </a:br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FC42BDD-1C43-5371-436B-9AD6EFC944C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41424" y="5666098"/>
            <a:ext cx="11244481" cy="1081088"/>
          </a:xfrm>
        </p:spPr>
        <p:txBody>
          <a:bodyPr/>
          <a:lstStyle/>
          <a:p>
            <a:r>
              <a:rPr lang="en-US" sz="1800"/>
              <a:t>Improvement in CST in Q4 for Vodafone compared to Q3 and Q2</a:t>
            </a:r>
          </a:p>
          <a:p>
            <a:r>
              <a:rPr lang="en-US" sz="1800"/>
              <a:t>Three showing degradation in CST in Q4 compared to Q2, mainly on higher percentiles.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73656E-58DF-91EF-E66E-51B0E07D2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415" y="1238060"/>
            <a:ext cx="9579170" cy="438188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E8C1492-95EE-757A-D3BD-FF4B20A057D0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538652" y="2715918"/>
            <a:ext cx="424498" cy="446382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46A1288-08AB-9998-CCC6-C43AD8E7BA5B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795577" y="3068343"/>
            <a:ext cx="253048" cy="297105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1244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8C583-44F6-A835-BFFB-828E86F2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DF1F45-954B-C68C-0668-E5CCBFDFC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77" y="1119050"/>
            <a:ext cx="11532123" cy="41862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E9041E-E0D3-16B3-0E4C-3C0AACD01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FDTT DL (7s)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AA1AF8-77BF-E885-509A-CAF975E449E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381804"/>
            <a:ext cx="11244481" cy="1081088"/>
          </a:xfrm>
        </p:spPr>
        <p:txBody>
          <a:bodyPr/>
          <a:lstStyle/>
          <a:p>
            <a:r>
              <a:rPr lang="en-US" sz="1800" dirty="0"/>
              <a:t>Vodafone improved in Q4 compared to Q3 in FDTT DL throughput performance, having similar performance compared to Q2. Lower share of low-rate sessions observed in Q4 compared to Q3. </a:t>
            </a:r>
          </a:p>
          <a:p>
            <a:r>
              <a:rPr lang="en-US" sz="1800" dirty="0"/>
              <a:t>Three having similar performance in Q4 vs Q3, showing lower low-rate sessions in Q4 compared to Q3, mainly below 20 &amp; below 5mbps.</a:t>
            </a:r>
          </a:p>
          <a:p>
            <a:endParaRPr lang="en-US" sz="18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6782027-FBF4-6162-01C3-792509C263E9}"/>
              </a:ext>
            </a:extLst>
          </p:cNvPr>
          <p:cNvCxnSpPr>
            <a:cxnSpLocks/>
          </p:cNvCxnSpPr>
          <p:nvPr/>
        </p:nvCxnSpPr>
        <p:spPr bwMode="auto">
          <a:xfrm flipV="1">
            <a:off x="9956596" y="2318251"/>
            <a:ext cx="228600" cy="39645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DF4EF26-D596-1A21-449B-9DCBA90B3176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59280" y="3013931"/>
            <a:ext cx="782320" cy="563842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35850A1-C84C-9D36-FBB1-3DE1DDB8F814}"/>
              </a:ext>
            </a:extLst>
          </p:cNvPr>
          <p:cNvCxnSpPr>
            <a:cxnSpLocks/>
          </p:cNvCxnSpPr>
          <p:nvPr/>
        </p:nvCxnSpPr>
        <p:spPr bwMode="auto">
          <a:xfrm flipV="1">
            <a:off x="7181922" y="2593564"/>
            <a:ext cx="228600" cy="39645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4EB7C74-406B-117E-B3E6-4ABAB6ADC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3204" y="2857449"/>
            <a:ext cx="870382" cy="84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303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495C4-6E7E-4737-D849-845AC8570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7B6D70-AA14-FC9A-78F2-79C549D8E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907827"/>
            <a:ext cx="10094450" cy="45914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4503A1-DD43-6AF4-9F09-B3409DD39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FDTT UL (7s)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A5D25AE-2EB6-11BC-4112-3D781E4D090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37919" y="5410777"/>
            <a:ext cx="10866107" cy="1081088"/>
          </a:xfrm>
        </p:spPr>
        <p:txBody>
          <a:bodyPr/>
          <a:lstStyle/>
          <a:p>
            <a:r>
              <a:rPr lang="en-US" sz="1800"/>
              <a:t>Vodafone having similar performance in Q4 compared to Q3 in FDTT UL throughput performance. Lower share of low-rate sessions observed in Q4 compared to Q3. </a:t>
            </a:r>
          </a:p>
          <a:p>
            <a:r>
              <a:rPr lang="en-US" sz="1800"/>
              <a:t>Three having lower low-rate sessions in Q4 compared to Q3, mainly below 20 &amp; below 3mbps.</a:t>
            </a:r>
          </a:p>
          <a:p>
            <a:endParaRPr lang="en-US" sz="180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8C73C59-4FF6-CE52-58B7-B9D5F780BF96}"/>
              </a:ext>
            </a:extLst>
          </p:cNvPr>
          <p:cNvCxnSpPr>
            <a:cxnSpLocks/>
          </p:cNvCxnSpPr>
          <p:nvPr/>
        </p:nvCxnSpPr>
        <p:spPr bwMode="auto">
          <a:xfrm flipV="1">
            <a:off x="9082836" y="2663691"/>
            <a:ext cx="228600" cy="39645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CD87C77-7E25-45D6-5899-A2458CA29716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561675" y="2172640"/>
            <a:ext cx="782320" cy="563842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3A9ACA8-40E9-35A1-EFF2-7FACE08C9FC2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7282" y="2762844"/>
            <a:ext cx="228600" cy="396458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25D07A8-3270-C30E-1A1D-006B2951C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8622" y="2500580"/>
            <a:ext cx="789456" cy="76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40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09529-5F66-7304-BCC8-6E78D9ED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E7DCB5-4355-CD5E-1B8E-3135C70EE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36" y="954916"/>
            <a:ext cx="11514339" cy="49441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E3126D-7A01-E155-A532-CB49B0CCD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FDFS DL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E4FFA2F-7FA9-7AE2-A446-4222F2FD7E0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9425" y="5899050"/>
            <a:ext cx="11244481" cy="563842"/>
          </a:xfrm>
        </p:spPr>
        <p:txBody>
          <a:bodyPr/>
          <a:lstStyle/>
          <a:p>
            <a:r>
              <a:rPr lang="en-US" sz="1800"/>
              <a:t>Vodafone degraded FDFS DL throughput in Q4 compared to Q3, having similar performance as in Q2.</a:t>
            </a:r>
          </a:p>
          <a:p>
            <a:r>
              <a:rPr lang="en-US" sz="1800"/>
              <a:t>Three showing similar performance in Q4 and Q3.</a:t>
            </a:r>
          </a:p>
          <a:p>
            <a:endParaRPr lang="en-US" sz="180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8E86C6-D4E3-D279-E2BF-E519010AC232}"/>
              </a:ext>
            </a:extLst>
          </p:cNvPr>
          <p:cNvCxnSpPr>
            <a:cxnSpLocks/>
          </p:cNvCxnSpPr>
          <p:nvPr/>
        </p:nvCxnSpPr>
        <p:spPr bwMode="auto">
          <a:xfrm flipV="1">
            <a:off x="9435897" y="3909405"/>
            <a:ext cx="228600" cy="396458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C103486-CFCE-D735-5F83-254F88F3BA3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927601" y="2148834"/>
            <a:ext cx="782320" cy="563842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D173F8-CDC3-BD05-F877-4E12BDC0B037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6096000" y="2042938"/>
            <a:ext cx="552522" cy="473542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1765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0C2D-B815-F067-3E3A-A4487C508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174D16-6117-F665-3A96-AE967E745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229856"/>
            <a:ext cx="9591526" cy="43982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8B2D2C-C1DA-E717-C97E-F1166CA68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FDFS UL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1FE442A-9ACF-CB40-286E-CF3F6101346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55625" y="5817908"/>
            <a:ext cx="11244481" cy="563842"/>
          </a:xfrm>
        </p:spPr>
        <p:txBody>
          <a:bodyPr/>
          <a:lstStyle/>
          <a:p>
            <a:r>
              <a:rPr lang="en-US" sz="1800"/>
              <a:t>Vodafone improved the FDFS UL throughput in Q4 compared to Q3, showing also better transfer time in UL.</a:t>
            </a:r>
          </a:p>
          <a:p>
            <a:r>
              <a:rPr lang="en-US" sz="1800"/>
              <a:t>Three having similar performance in FDFS UL throughput compared to Q3.</a:t>
            </a:r>
          </a:p>
          <a:p>
            <a:endParaRPr lang="en-US" sz="180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1039AB1-1165-728E-8BA3-7088EE76D2F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988347" y="3922630"/>
            <a:ext cx="415493" cy="314090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73B212-5695-E4D9-EBF3-A22D914A3DC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505393" y="2423154"/>
            <a:ext cx="782320" cy="563842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92D6B52-9E68-8842-CBD8-80E15E7012EB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6096000" y="2042938"/>
            <a:ext cx="552522" cy="473542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4026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9AC0F-2A8F-4529-606A-D0FB4F323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331418-455C-28AB-4414-395E775D43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927"/>
          <a:stretch>
            <a:fillRect/>
          </a:stretch>
        </p:blipFill>
        <p:spPr>
          <a:xfrm>
            <a:off x="479425" y="1199674"/>
            <a:ext cx="7877002" cy="51107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6ABDCE-9BEE-F150-D102-8F2382C4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Interactivity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CBE3DFC-E6A8-1A20-9232-D699CCEDD8C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780654" y="3429000"/>
            <a:ext cx="3931921" cy="2881440"/>
          </a:xfrm>
        </p:spPr>
        <p:txBody>
          <a:bodyPr/>
          <a:lstStyle/>
          <a:p>
            <a:r>
              <a:rPr lang="en-US" dirty="0"/>
              <a:t>Worse performance for Vodafone in Q4 in interactivity RTT compared to Q3.</a:t>
            </a:r>
          </a:p>
          <a:p>
            <a:endParaRPr lang="en-US" dirty="0"/>
          </a:p>
          <a:p>
            <a:r>
              <a:rPr lang="en-US" dirty="0"/>
              <a:t>Three having similar performance in interactivity RTT and packet error ratio compared to Q3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BB2270-05AF-2089-7EBD-C69423547A0B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709233" y="2386524"/>
            <a:ext cx="552522" cy="473542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9A21E8-1199-768D-F8D0-C42F96DFF2CB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167615" y="2243260"/>
            <a:ext cx="552522" cy="473542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84CCB7E9-19AA-9CFC-1989-E96D96DDA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997" y="1911837"/>
            <a:ext cx="730430" cy="71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778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60FA1-3130-D48D-AE85-6584EE924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ADF741-1282-39E9-18B9-EC8B9305A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64" y="1226338"/>
            <a:ext cx="10759963" cy="39059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EE8C70-5FF5-E51B-B320-3BE1AE88E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Browsing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E52F371-0669-15C7-1833-E7230877246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03499" y="5375911"/>
            <a:ext cx="10623828" cy="1116330"/>
          </a:xfrm>
        </p:spPr>
        <p:txBody>
          <a:bodyPr>
            <a:normAutofit/>
          </a:bodyPr>
          <a:lstStyle/>
          <a:p>
            <a:r>
              <a:rPr lang="en-US"/>
              <a:t>Similar performance for Vodafone and Three in Q4 compared to Q3 in browsing time to 1MB. </a:t>
            </a:r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0068FD-FF5D-E36A-6C8D-A8B39119B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679" y="2095475"/>
            <a:ext cx="769646" cy="74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19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F175D-D609-4B09-CC96-047698E71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FC92183-B357-C2DE-0D13-0014FE019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521950" cy="1081088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Conclusions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EA75BF-1EE3-5420-2340-CA2586484C70}"/>
              </a:ext>
            </a:extLst>
          </p:cNvPr>
          <p:cNvGraphicFramePr>
            <a:graphicFrameLocks noGrp="1"/>
          </p:cNvGraphicFramePr>
          <p:nvPr/>
        </p:nvGraphicFramePr>
        <p:xfrm>
          <a:off x="222388" y="1294534"/>
          <a:ext cx="11622157" cy="4864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983">
                  <a:extLst>
                    <a:ext uri="{9D8B030D-6E8A-4147-A177-3AD203B41FA5}">
                      <a16:colId xmlns:a16="http://schemas.microsoft.com/office/drawing/2014/main" val="1231941871"/>
                    </a:ext>
                  </a:extLst>
                </a:gridCol>
                <a:gridCol w="5672759">
                  <a:extLst>
                    <a:ext uri="{9D8B030D-6E8A-4147-A177-3AD203B41FA5}">
                      <a16:colId xmlns:a16="http://schemas.microsoft.com/office/drawing/2014/main" val="819676662"/>
                    </a:ext>
                  </a:extLst>
                </a:gridCol>
                <a:gridCol w="2185780">
                  <a:extLst>
                    <a:ext uri="{9D8B030D-6E8A-4147-A177-3AD203B41FA5}">
                      <a16:colId xmlns:a16="http://schemas.microsoft.com/office/drawing/2014/main" val="3964278779"/>
                    </a:ext>
                  </a:extLst>
                </a:gridCol>
                <a:gridCol w="3107635">
                  <a:extLst>
                    <a:ext uri="{9D8B030D-6E8A-4147-A177-3AD203B41FA5}">
                      <a16:colId xmlns:a16="http://schemas.microsoft.com/office/drawing/2014/main" val="1255488726"/>
                    </a:ext>
                  </a:extLst>
                </a:gridCol>
              </a:tblGrid>
              <a:tr h="2269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Operator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Main Finding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Recommendation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Potential Scoring Impact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2863621968"/>
                  </a:ext>
                </a:extLst>
              </a:tr>
              <a:tr h="226921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VFE</a:t>
                      </a: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Higher data failure ratio in all data test, but specially in FDFS DL&amp;UL in Q4 compared to Q3. 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Data services Success Ratio ('Most reliable’) (FDFS DL&amp;UL, Browsing and Video)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4118443984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CST in Q4 compared to Q3 and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CALL SETUP TIME 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196451456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FDTT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DL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62449492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Degradation in FDFS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FDFS DL Transfer Time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926149615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Higher Interactivity RTT in Q4 compared to Q3, similar figures as in Q2 (*). London showing poorer performance in Q4 compared to Q2.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Interactivity RTT </a:t>
                      </a: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584857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3UK MOCN nodes mimics the 3UK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5274901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VFUK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271828910"/>
                  </a:ext>
                </a:extLst>
              </a:tr>
              <a:tr h="404557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Three</a:t>
                      </a: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High unqualified data sessions in FDFS DL HTTPS test (not RF related) still present in Q4 in NSA CDR. In SA CDR this problem is not present.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 E2E analysis. E2E core tracing needed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FDFS DL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524180120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Call Success ratio in Q4 in London compared to Q3 (higher number of VoLTE failures)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Detail Log analysis of failures cases 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Call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3167912453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/>
                        <a:t>Degradation observed in POLQA AVG MOS in Q4 compared to Q3 mainly in Belfast and Sheffield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POLQA Avg MOS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52388039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VFUK MOCN nodes mimics the VFUK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97528208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3UK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FDTT and FDFS DL&amp;UL Throughput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0093759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5902FAD-7E06-3A1D-CB2A-3D5D0CBE8010}"/>
              </a:ext>
            </a:extLst>
          </p:cNvPr>
          <p:cNvSpPr txBox="1"/>
          <p:nvPr/>
        </p:nvSpPr>
        <p:spPr>
          <a:xfrm>
            <a:off x="304178" y="6268819"/>
            <a:ext cx="114585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i="1" dirty="0"/>
              <a:t>(*) In 2025 Q4 Vodafone core is CISCO CORE (as in 2025 Q2) and in 2025 Q3 it was COSMOS ERICSSON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993669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86336614357648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8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8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19.xml><?xml version="1.0" encoding="utf-8"?>
<TemplafySlideFormConfiguration><![CDATA[{"formFields":[],"formDataEntries":[]}]]></TemplafySlideFormConfiguration>
</file>

<file path=customXml/item20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772ABA4E-1FA2-4FC1-9A8A-C2C33BEC7DBE}">
  <ds:schemaRefs/>
</ds:datastoreItem>
</file>

<file path=customXml/itemProps2.xml><?xml version="1.0" encoding="utf-8"?>
<ds:datastoreItem xmlns:ds="http://schemas.openxmlformats.org/officeDocument/2006/customXml" ds:itemID="{2A25ECD3-EA6C-4727-8DF2-5BDC9911D24C}">
  <ds:schemaRefs/>
</ds:datastoreItem>
</file>

<file path=customXml/itemProps3.xml><?xml version="1.0" encoding="utf-8"?>
<ds:datastoreItem xmlns:ds="http://schemas.openxmlformats.org/officeDocument/2006/customXml" ds:itemID="{7FC3D2F9-C978-4F6C-9B95-BEE6303453CA}">
  <ds:schemaRefs/>
</ds:datastoreItem>
</file>

<file path=customXml/itemProps4.xml><?xml version="1.0" encoding="utf-8"?>
<ds:datastoreItem xmlns:ds="http://schemas.openxmlformats.org/officeDocument/2006/customXml" ds:itemID="{4F6381B7-CB4D-4A8E-AE8C-AD066D7465AA}">
  <ds:schemaRefs/>
</ds:datastoreItem>
</file>

<file path=customXml/itemProps5.xml><?xml version="1.0" encoding="utf-8"?>
<ds:datastoreItem xmlns:ds="http://schemas.openxmlformats.org/officeDocument/2006/customXml" ds:itemID="{6AE2E849-5528-4C05-B1E8-DB80DA8BD7F1}">
  <ds:schemaRefs/>
</ds:datastoreItem>
</file>

<file path=customXml/itemProps6.xml><?xml version="1.0" encoding="utf-8"?>
<ds:datastoreItem xmlns:ds="http://schemas.openxmlformats.org/officeDocument/2006/customXml" ds:itemID="{2E5DC17B-7CA5-47FA-BB10-51D0544A8F91}">
  <ds:schemaRefs/>
</ds:datastoreItem>
</file>

<file path=customXml/itemProps7.xml><?xml version="1.0" encoding="utf-8"?>
<ds:datastoreItem xmlns:ds="http://schemas.openxmlformats.org/officeDocument/2006/customXml" ds:itemID="{3E86842F-01DA-4AAB-AA56-9F0B2F496397}">
  <ds:schemaRefs/>
</ds:datastoreItem>
</file>

<file path=customXml/itemProps8.xml><?xml version="1.0" encoding="utf-8"?>
<ds:datastoreItem xmlns:ds="http://schemas.openxmlformats.org/officeDocument/2006/customXml" ds:itemID="{869BA327-EF28-4B9C-BE53-22640E14D196}">
  <ds:schemaRefs/>
</ds:datastoreItem>
</file>

<file path=customXml/itemProps9.xml><?xml version="1.0" encoding="utf-8"?>
<ds:datastoreItem xmlns:ds="http://schemas.openxmlformats.org/officeDocument/2006/customXml" ds:itemID="{F1A1DCA2-547F-4B90-BE36-91B9AB619C93}">
  <ds:schemaRefs/>
</ds:datastoreItem>
</file>

<file path=customXml/itemProps10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11.xml><?xml version="1.0" encoding="utf-8"?>
<ds:datastoreItem xmlns:ds="http://schemas.openxmlformats.org/officeDocument/2006/customXml" ds:itemID="{D6A0B861-D97F-43C8-B3DF-13EB4CD7C21A}">
  <ds:schemaRefs/>
</ds:datastoreItem>
</file>

<file path=customXml/itemProps12.xml><?xml version="1.0" encoding="utf-8"?>
<ds:datastoreItem xmlns:ds="http://schemas.openxmlformats.org/officeDocument/2006/customXml" ds:itemID="{BCC44073-508E-4BAD-AC76-AFAF4E5A3726}">
  <ds:schemaRefs/>
</ds:datastoreItem>
</file>

<file path=customXml/itemProps13.xml><?xml version="1.0" encoding="utf-8"?>
<ds:datastoreItem xmlns:ds="http://schemas.openxmlformats.org/officeDocument/2006/customXml" ds:itemID="{A87FB1B0-D223-4CF6-8EC4-E3E816F1CDBE}">
  <ds:schemaRefs/>
</ds:datastoreItem>
</file>

<file path=customXml/itemProps14.xml><?xml version="1.0" encoding="utf-8"?>
<ds:datastoreItem xmlns:ds="http://schemas.openxmlformats.org/officeDocument/2006/customXml" ds:itemID="{F6CC31F5-13F1-4893-A918-27994DEE1E73}">
  <ds:schemaRefs/>
</ds:datastoreItem>
</file>

<file path=customXml/itemProps15.xml><?xml version="1.0" encoding="utf-8"?>
<ds:datastoreItem xmlns:ds="http://schemas.openxmlformats.org/officeDocument/2006/customXml" ds:itemID="{62D5B54B-6902-4F98-B23A-0118DB9EEDF4}">
  <ds:schemaRefs/>
</ds:datastoreItem>
</file>

<file path=customXml/itemProps16.xml><?xml version="1.0" encoding="utf-8"?>
<ds:datastoreItem xmlns:ds="http://schemas.openxmlformats.org/officeDocument/2006/customXml" ds:itemID="{D81E0773-B1DF-4187-B86B-A4CC89F4FFA3}">
  <ds:schemaRefs/>
</ds:datastoreItem>
</file>

<file path=customXml/itemProps17.xml><?xml version="1.0" encoding="utf-8"?>
<ds:datastoreItem xmlns:ds="http://schemas.openxmlformats.org/officeDocument/2006/customXml" ds:itemID="{ADCE6D4E-881A-4F21-8F46-6A112A7EEBE1}">
  <ds:schemaRefs/>
</ds:datastoreItem>
</file>

<file path=customXml/itemProps18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19.xml><?xml version="1.0" encoding="utf-8"?>
<ds:datastoreItem xmlns:ds="http://schemas.openxmlformats.org/officeDocument/2006/customXml" ds:itemID="{0B924887-3FAA-4B8E-815F-481860E4E6AF}">
  <ds:schemaRefs/>
</ds:datastoreItem>
</file>

<file path=customXml/itemProps20.xml><?xml version="1.0" encoding="utf-8"?>
<ds:datastoreItem xmlns:ds="http://schemas.openxmlformats.org/officeDocument/2006/customXml" ds:itemID="{7DEDA2BC-8275-4FBB-A28A-68D801E06E75}"/>
</file>

<file path=customXml/itemProps21.xml><?xml version="1.0" encoding="utf-8"?>
<ds:datastoreItem xmlns:ds="http://schemas.openxmlformats.org/officeDocument/2006/customXml" ds:itemID="{BA1C3E13-54CF-4EC8-BFFC-847950BB2BA6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2369</Words>
  <Application>Microsoft Office PowerPoint</Application>
  <PresentationFormat>Widescreen</PresentationFormat>
  <Paragraphs>637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Aptos</vt:lpstr>
      <vt:lpstr>Aptos Narrow</vt:lpstr>
      <vt:lpstr>Ericsson Hilda</vt:lpstr>
      <vt:lpstr>Ericsson Hilda ExtraBold</vt:lpstr>
      <vt:lpstr>Ericsson Hilda ExtraLight</vt:lpstr>
      <vt:lpstr>Ericsson Hilda Light</vt:lpstr>
      <vt:lpstr>Ericsson Technical Icons</vt:lpstr>
      <vt:lpstr>Wingdings</vt:lpstr>
      <vt:lpstr>PresentationTemplate2025</vt:lpstr>
      <vt:lpstr>1_PresentationTemplate2021</vt:lpstr>
      <vt:lpstr>PowerPoint Presentation</vt:lpstr>
      <vt:lpstr>Executive Summary</vt:lpstr>
      <vt:lpstr>Netcheck Q4 scoring “Best network”. Drive city</vt:lpstr>
      <vt:lpstr>Score breakdown</vt:lpstr>
      <vt:lpstr>KPIs prioritization: gap Vodafone vs EE</vt:lpstr>
      <vt:lpstr>KPIs prioritization: gap Three vs EE</vt:lpstr>
      <vt:lpstr>7 cities analysis  Belfast, Bristol, Cardiff, Edinburgh, London, Leeds and Sheffield </vt:lpstr>
      <vt:lpstr>Completed Call Ratio</vt:lpstr>
      <vt:lpstr>Voice failures per Q/city </vt:lpstr>
      <vt:lpstr>Data failure</vt:lpstr>
      <vt:lpstr>Data failures - FDFS test </vt:lpstr>
      <vt:lpstr>POLQA AVG MOS (Multirab&amp;volte) </vt:lpstr>
      <vt:lpstr>POLQA AVG MOS (WhatsApp) </vt:lpstr>
      <vt:lpstr>POLQA &lt;1.6</vt:lpstr>
      <vt:lpstr>CST </vt:lpstr>
      <vt:lpstr>FDTT DL (7s)</vt:lpstr>
      <vt:lpstr>FDTT UL (7s)</vt:lpstr>
      <vt:lpstr>FDFS DL</vt:lpstr>
      <vt:lpstr>FDFS UL</vt:lpstr>
      <vt:lpstr>Interactivity</vt:lpstr>
      <vt:lpstr>Browsing 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Gabriele Roncella</cp:lastModifiedBy>
  <cp:revision>3</cp:revision>
  <dcterms:created xsi:type="dcterms:W3CDTF">2026-01-12T11:19:33Z</dcterms:created>
  <dcterms:modified xsi:type="dcterms:W3CDTF">2026-08-20T12:33:54Z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